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26994809-f0b3-a541-8e12-830e10feb780}">
          <p14:sldIdLst>
            <p14:sldId id="256"/>
          </p14:sldIdLst>
        </p14:section>
        <p14:section name="Bài toán" id="{51b13dfc-b06b-1402-0b00-7083223f334e}">
          <p14:sldIdLst>
            <p14:sldId id="257"/>
          </p14:sldIdLst>
        </p14:section>
        <p14:section name="Kiến trúc" id="{75df1226-2fd1-6ab8-c26b-0974b87f7ee3}">
          <p14:sldIdLst>
            <p14:sldId id="258"/>
          </p14:sldIdLst>
        </p14:section>
        <p14:section name="Kiểm chứng" id="{cd03d712-f381-b712-fce9-c8a6ed56e0ab}">
          <p14:sldIdLst>
            <p14:sldId id="259"/>
          </p14:sldIdLst>
        </p14:section>
        <p14:section name="Kết luận" id="{8cf39268-6174-5179-b11d-935799de0c34}">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Hội đồng. Em xin trình bày đề tài “Thiết kế và tối ưu hóa bộ điều khiển LQR thích nghi với bộ bù suy giảm tuổi thọ pin cho hệ truyền động xe điện cỡ nhỏ (Micro-EV)”.
Câu hỏi trung tâm là: khi pin già đi, bộ điều khiển nên thay đổi như thế nào, và làm sao đánh giá sự thay đổi đó một cách công bằng.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 xe điện suy giảm theo thời gian sử dụng; mức suy giảm được mô tả bằng SoH, trạng thái sức khỏe của pin. Khi SoH giảm, nội trở tăng và dung lượng giảm, trong khi bộ LQR hệ số cố định chỉ được thiết kế một lần cho pin mới.
Đề tài đề xuất ba hướng. Một: LQR thích nghi, với trọng số Q và R được lập lịch theo SoH ước lượng. Hai: đánh giá đồng thời năng lượng tiêu thụ và suy giảm dung lượng, như hai chỉ số riêng, không lấy chỉ số này thay cho chỉ số kia. Ba: dùng NSGA-II để khám phá các bộ trọng số khả thi dưới ràng buộc ổn định và bám tốc độ, thay vì chọn theo kinh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Đường xanh đậm là vòng điều khiển thời gian thực. Chu trình lái cho vận tốc tham chiếu; sai số với vận tốc đo được đi vào bộ điều khiển. Bộ điều khiển có hai phương án cùng giao diện: LQR hệ số cố định làm đối chứng, và LQR thích nghi. Đầu ra là mô-men tham chiếu cho hệ truyền động, gồm động cơ, động lực học dọc của xe và mô hình pin mạch tương đương.
Đường xanh lục là nhánh thích nghi: điện áp và dòng pin đi vào bộ ước lượng SoH dùng EKF; SoH ước lượng dùng để lập lịch Q, R, giải phương trình Riccati rời rạc và cập nhật hệ số K. SoH thay đổi rất chậm so với chu kỳ điều khiển; bộ điều khiển không đo suy giảm dung lượng tại mỗi bước.
Bên phải là các chỉ số tính từ quỹ đạo mô phỏng: hiệu năng điều khiển, năng lượng trên mỗi ki-lô-mét, và tách riêng là suy giảm dung lượng từ mô hình lão hóa. Đường nét đứt là vòng tối ưu ngoại tuyến: NSGA-II đề xuất bộ trọng số ứng viên, chạy mô phỏng, nhận hai mục tiêu năng lượng và lão hóa, rồi lặp lại. Vòng này không chạy trong bộ điều khiển thời gian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chỉ có giá trị khi được kiểm chứng bằng một quy trình công bằng và tái lập được.
Bước một: cố định mô hình xe, động cơ, pin và điều kiện ban đầu; ghi rõ nguồn gốc tham số, giả định, và một biên tính năng lượng duy nhất. Bước hai: so sánh LQR cố định với LQR thích nghi trên cùng đối tượng, cùng chu trình lái, cùng điều kiện đầu và giới hạn; bộ điều khiển khác chỉ đưa vào khi có cài đặt đầy đủ. Bước ba: tính riêng sai số bám tốc độ, năng lượng theo Wh/km và suy giảm dung lượng; năng lượng và lão hóa không thay thế cho nhau. Bước bốn: mở rộng sang NEDC, WLTP, CLTC và VUC khi có hồ sơ vận tốc rõ nguồn gốc, phân tích độ nhạy, và lưu toàn bộ dữ liệu thô, tham số, nhật ký.
Hai con số cuối trang là giá trị luận văn đã báo cáo: mười hai phẩy năm phần trăm về hiệu quả năng lượng, và mười lăm phẩy ba phần trăm về giảm suy giảm dung lượng qua một nghìn chu kỳ. Các con số này chưa được tái lập độc lập, nên em trình bày chúng như mốc đối chiếu, không phải kết quả đã khẳng định. Quy trình không tinh chỉnh mô hình để đạt mốc; kết quả được báo cáo đúng như thu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đề tài xây dựng một khung điều khiển hướng tới tích hợp trạng thái sức khỏe pin, hiệu quả năng lượng và tối ưu hóa đa mục tiêu.
Bước tiếp theo gồm ba hướng: hoàn thiện kiểm chứng mô phỏng với so sánh công bằng giữa hai bộ điều khiển; củng cố mô hình lão hóa pin, từ tham số hóa đến đánh giá suy giảm dung lượng theo chu kỳ; và mở rộng phân tích đa mục tiêu, tiến tới kiểm chứng HIL hoặc thực nghiệm.
Em xin cảm ơn Hội đồng và rất mong nhận được câu hỏi,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algn="l" indent="0" marL="0">
              <a:buNone/>
              <a:defRPr lang="en-US" sz="1300" b="1" spc="50" kern="0"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548640" y="658368"/>
            <a:ext cx="11064240" cy="603504"/>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19088"/>
            <a:ext cx="7315200" cy="228600"/>
          </a:xfrm>
          <a:prstGeom prst="rect">
            <a:avLst/>
          </a:prstGeom>
          <a:noFill/>
          <a:ln/>
        </p:spPr>
        <p:txBody>
          <a:bodyPr wrap="square" lIns="0" tIns="0" rIns="0" bIns="0" rtlCol="0" anchor="ctr"/>
          <a:lstStyle/>
          <a:p>
            <a:pPr indent="0" marL="0">
              <a:buNone/>
            </a:pPr>
            <a:r>
              <a:rPr lang="en-US" sz="1000" dirty="0">
                <a:solidFill>
                  <a:schemeClr val="tx2"/>
                </a:solidFill>
              </a:rPr>
              <a:t>EURÉKA 2026 · LQR thích nghi với bù suy giảm pin cho Micro-EV</a:t>
            </a:r>
            <a:endParaRPr lang="en-US" sz="1000" dirty="0"/>
          </a:p>
        </p:txBody>
      </p:sp>
      <p:sp>
        <p:nvSpPr>
          <p:cNvPr id="25" name="Slide Number Placeholder 0"/>
          <p:cNvSpPr>
            <a:spLocks noGrp="1"/>
          </p:cNvSpPr>
          <p:nvPr>
            <p:ph type="sldNum" sz="quarter" idx="4294967295"/>
          </p:nvPr>
        </p:nvSpPr>
        <p:spPr>
          <a:xfrm>
            <a:off x="11091672"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kicker-1"/>
          <p:cNvSpPr txBox="1"/>
          <p:nvPr/>
        </p:nvSpPr>
        <p:spPr>
          <a:xfrm>
            <a:off x="685800" y="1600200"/>
            <a:ext cx="621792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BÁO CÁO BẢO VỆ ĐỀ TÀI</a:t>
            </a:r>
            <a:endParaRPr lang="en-US" sz="1300" dirty="0"/>
          </a:p>
        </p:txBody>
      </p:sp>
      <p:sp>
        <p:nvSpPr>
          <p:cNvPr id="3" name="cover-title-2"/>
          <p:cNvSpPr txBox="1"/>
          <p:nvPr/>
        </p:nvSpPr>
        <p:spPr>
          <a:xfrm>
            <a:off x="685800" y="1984248"/>
            <a:ext cx="6309360" cy="1828800"/>
          </a:xfrm>
          <a:prstGeom prst="rect">
            <a:avLst/>
          </a:prstGeom>
          <a:noFill/>
          <a:ln/>
        </p:spPr>
        <p:txBody>
          <a:bodyPr wrap="square" lIns="0" tIns="0" rIns="0" bIns="0" rtlCol="0" anchor="t"/>
          <a:lstStyle/>
          <a:p>
            <a:pPr indent="0" marL="0">
              <a:lnSpc>
                <a:spcPct val="105000"/>
              </a:lnSpc>
              <a:buNone/>
            </a:pPr>
            <a:r>
              <a:rPr lang="en-US" sz="3400" b="1" dirty="0">
                <a:solidFill>
                  <a:schemeClr val="tx1"/>
                </a:solidFill>
              </a:rPr>
              <a:t>Thiết kế và tối ưu hóa bộ điều khiển LQR thích nghi với bù suy giảm pin cho Micro-EV</a:t>
            </a:r>
            <a:endParaRPr lang="en-US" sz="3400" dirty="0"/>
          </a:p>
        </p:txBody>
      </p:sp>
      <p:sp>
        <p:nvSpPr>
          <p:cNvPr id="4" name="cover-subtitle-3"/>
          <p:cNvSpPr txBox="1"/>
          <p:nvPr/>
        </p:nvSpPr>
        <p:spPr>
          <a:xfrm>
            <a:off x="685800" y="4023360"/>
            <a:ext cx="6583680" cy="365760"/>
          </a:xfrm>
          <a:prstGeom prst="rect">
            <a:avLst/>
          </a:prstGeom>
          <a:noFill/>
          <a:ln/>
        </p:spPr>
        <p:txBody>
          <a:bodyPr wrap="square" lIns="0" tIns="0" rIns="0" bIns="0" rtlCol="0" anchor="t"/>
          <a:lstStyle/>
          <a:p>
            <a:pPr indent="0" marL="0">
              <a:buNone/>
            </a:pPr>
            <a:r>
              <a:rPr lang="en-US" sz="1700" dirty="0">
                <a:solidFill>
                  <a:schemeClr val="accent1"/>
                </a:solidFill>
              </a:rPr>
              <a:t>Adaptive LQR · Battery Aging · Multi-objective Optimization</a:t>
            </a:r>
            <a:endParaRPr lang="en-US" sz="1700" dirty="0"/>
          </a:p>
        </p:txBody>
      </p:sp>
      <p:sp>
        <p:nvSpPr>
          <p:cNvPr id="5" name="cover-divider-4"/>
          <p:cNvSpPr/>
          <p:nvPr/>
        </p:nvSpPr>
        <p:spPr>
          <a:xfrm>
            <a:off x="685800" y="4800600"/>
            <a:ext cx="6217920" cy="0"/>
          </a:xfrm>
          <a:prstGeom prst="line">
            <a:avLst/>
          </a:prstGeom>
          <a:noFill/>
          <a:ln w="12700">
            <a:solidFill>
              <a:schemeClr val="accent3"/>
            </a:solidFill>
            <a:prstDash val="solid"/>
          </a:ln>
        </p:spPr>
      </p:sp>
      <p:sp>
        <p:nvSpPr>
          <p:cNvPr id="6" name="cover-competition-5"/>
          <p:cNvSpPr txBox="1"/>
          <p:nvPr/>
        </p:nvSpPr>
        <p:spPr>
          <a:xfrm>
            <a:off x="685800" y="4956048"/>
            <a:ext cx="6217920" cy="274320"/>
          </a:xfrm>
          <a:prstGeom prst="rect">
            <a:avLst/>
          </a:prstGeom>
          <a:noFill/>
          <a:ln/>
        </p:spPr>
        <p:txBody>
          <a:bodyPr wrap="square" lIns="0" tIns="0" rIns="0" bIns="0" rtlCol="0" anchor="t"/>
          <a:lstStyle/>
          <a:p>
            <a:pPr indent="0" marL="0">
              <a:buNone/>
            </a:pPr>
            <a:r>
              <a:rPr lang="en-US" sz="1200" dirty="0">
                <a:solidFill>
                  <a:schemeClr val="tx2"/>
                </a:solidFill>
              </a:rPr>
              <a:t>Giải thưởng Sinh viên Nghiên cứu Khoa học EURÉKA 2026</a:t>
            </a:r>
            <a:endParaRPr lang="en-US" sz="1200" dirty="0"/>
          </a:p>
        </p:txBody>
      </p:sp>
      <p:sp>
        <p:nvSpPr>
          <p:cNvPr id="7" name="ev-body-6"/>
          <p:cNvSpPr/>
          <p:nvPr/>
        </p:nvSpPr>
        <p:spPr>
          <a:xfrm>
            <a:off x="7635240" y="2240280"/>
            <a:ext cx="3931920" cy="2103120"/>
          </a:xfrm>
          <a:custGeom>
            <a:avLst/>
            <a:gdLst/>
            <a:ahLst/>
            <a:cxnLst/>
            <a:rect l="l" t="t" r="r" b="b"/>
            <a:pathLst>
              <a:path w="3931920" h="2103120">
                <a:moveTo>
                  <a:pt x="45720" y="2103120"/>
                </a:moveTo>
                <a:lnTo>
                  <a:pt x="0" y="502920"/>
                </a:lnTo>
                <a:lnTo>
                  <a:pt x="228600" y="45720"/>
                </a:lnTo>
                <a:lnTo>
                  <a:pt x="2788920" y="45720"/>
                </a:lnTo>
                <a:lnTo>
                  <a:pt x="3429000" y="960120"/>
                </a:lnTo>
                <a:lnTo>
                  <a:pt x="3886200" y="1188720"/>
                </a:lnTo>
                <a:lnTo>
                  <a:pt x="3931920" y="2103120"/>
                </a:lnTo>
                <a:close/>
              </a:path>
            </a:pathLst>
          </a:custGeom>
          <a:solidFill>
            <a:schemeClr val="bg1"/>
          </a:solidFill>
          <a:ln w="25400">
            <a:solidFill>
              <a:schemeClr val="tx1"/>
            </a:solidFill>
            <a:prstDash val="solid"/>
          </a:ln>
        </p:spPr>
      </p:sp>
      <p:sp>
        <p:nvSpPr>
          <p:cNvPr id="8" name="ev-window-7"/>
          <p:cNvSpPr/>
          <p:nvPr/>
        </p:nvSpPr>
        <p:spPr>
          <a:xfrm>
            <a:off x="7909560" y="2514600"/>
            <a:ext cx="3017520" cy="685800"/>
          </a:xfrm>
          <a:custGeom>
            <a:avLst/>
            <a:gdLst/>
            <a:ahLst/>
            <a:cxnLst/>
            <a:rect l="l" t="t" r="r" b="b"/>
            <a:pathLst>
              <a:path w="3017520" h="685800">
                <a:moveTo>
                  <a:pt x="0" y="0"/>
                </a:moveTo>
                <a:lnTo>
                  <a:pt x="2532888" y="0"/>
                </a:lnTo>
                <a:lnTo>
                  <a:pt x="3017520" y="685800"/>
                </a:lnTo>
                <a:lnTo>
                  <a:pt x="0" y="685800"/>
                </a:lnTo>
                <a:close/>
              </a:path>
            </a:pathLst>
          </a:custGeom>
          <a:solidFill>
            <a:schemeClr val="bg2"/>
          </a:solidFill>
          <a:ln w="15875">
            <a:solidFill>
              <a:schemeClr val="tx1"/>
            </a:solidFill>
            <a:prstDash val="solid"/>
          </a:ln>
        </p:spPr>
      </p:sp>
      <p:sp>
        <p:nvSpPr>
          <p:cNvPr id="9" name="ev-pillar-8"/>
          <p:cNvSpPr/>
          <p:nvPr/>
        </p:nvSpPr>
        <p:spPr>
          <a:xfrm>
            <a:off x="9098280" y="2514600"/>
            <a:ext cx="0" cy="685800"/>
          </a:xfrm>
          <a:prstGeom prst="line">
            <a:avLst/>
          </a:prstGeom>
          <a:noFill/>
          <a:ln w="15875">
            <a:solidFill>
              <a:schemeClr val="tx1"/>
            </a:solidFill>
            <a:prstDash val="solid"/>
          </a:ln>
        </p:spPr>
      </p:sp>
      <p:sp>
        <p:nvSpPr>
          <p:cNvPr id="10" name="ev-lamp-9"/>
          <p:cNvSpPr/>
          <p:nvPr/>
        </p:nvSpPr>
        <p:spPr>
          <a:xfrm>
            <a:off x="11365992" y="3566160"/>
            <a:ext cx="155448" cy="109728"/>
          </a:xfrm>
          <a:prstGeom prst="rect">
            <a:avLst/>
          </a:prstGeom>
          <a:solidFill>
            <a:schemeClr val="tx1"/>
          </a:solidFill>
          <a:ln w="6350">
            <a:solidFill>
              <a:schemeClr val="tx1"/>
            </a:solidFill>
            <a:prstDash val="solid"/>
          </a:ln>
        </p:spPr>
      </p:sp>
      <p:sp>
        <p:nvSpPr>
          <p:cNvPr id="11" name="ev-arch-rear-10"/>
          <p:cNvSpPr/>
          <p:nvPr/>
        </p:nvSpPr>
        <p:spPr>
          <a:xfrm>
            <a:off x="7909560" y="3913632"/>
            <a:ext cx="1005840" cy="1005840"/>
          </a:xfrm>
          <a:prstGeom prst="ellipse">
            <a:avLst/>
          </a:prstGeom>
          <a:solidFill>
            <a:schemeClr val="bg1"/>
          </a:solidFill>
          <a:ln w="6350">
            <a:solidFill>
              <a:schemeClr val="bg1"/>
            </a:solidFill>
            <a:prstDash val="solid"/>
          </a:ln>
        </p:spPr>
      </p:sp>
      <p:sp>
        <p:nvSpPr>
          <p:cNvPr id="12" name="ev-wheel-rear-11"/>
          <p:cNvSpPr/>
          <p:nvPr/>
        </p:nvSpPr>
        <p:spPr>
          <a:xfrm>
            <a:off x="8028432" y="4032504"/>
            <a:ext cx="768096" cy="768096"/>
          </a:xfrm>
          <a:prstGeom prst="ellipse">
            <a:avLst/>
          </a:prstGeom>
          <a:solidFill>
            <a:schemeClr val="bg1"/>
          </a:solidFill>
          <a:ln w="25400">
            <a:solidFill>
              <a:schemeClr val="tx1"/>
            </a:solidFill>
            <a:prstDash val="solid"/>
          </a:ln>
        </p:spPr>
      </p:sp>
      <p:sp>
        <p:nvSpPr>
          <p:cNvPr id="13" name="ev-hub-rear-12"/>
          <p:cNvSpPr/>
          <p:nvPr/>
        </p:nvSpPr>
        <p:spPr>
          <a:xfrm>
            <a:off x="8284464" y="4288536"/>
            <a:ext cx="256032" cy="256032"/>
          </a:xfrm>
          <a:prstGeom prst="ellipse">
            <a:avLst/>
          </a:prstGeom>
          <a:solidFill>
            <a:schemeClr val="bg2"/>
          </a:solidFill>
          <a:ln w="12700">
            <a:solidFill>
              <a:schemeClr val="tx1"/>
            </a:solidFill>
            <a:prstDash val="solid"/>
          </a:ln>
        </p:spPr>
      </p:sp>
      <p:sp>
        <p:nvSpPr>
          <p:cNvPr id="14" name="ev-arch-front-13"/>
          <p:cNvSpPr/>
          <p:nvPr/>
        </p:nvSpPr>
        <p:spPr>
          <a:xfrm>
            <a:off x="10287000" y="3913632"/>
            <a:ext cx="1005840" cy="1005840"/>
          </a:xfrm>
          <a:prstGeom prst="ellipse">
            <a:avLst/>
          </a:prstGeom>
          <a:solidFill>
            <a:schemeClr val="bg1"/>
          </a:solidFill>
          <a:ln w="6350">
            <a:solidFill>
              <a:schemeClr val="bg1"/>
            </a:solidFill>
            <a:prstDash val="solid"/>
          </a:ln>
        </p:spPr>
      </p:sp>
      <p:sp>
        <p:nvSpPr>
          <p:cNvPr id="15" name="ev-wheel-front-14"/>
          <p:cNvSpPr/>
          <p:nvPr/>
        </p:nvSpPr>
        <p:spPr>
          <a:xfrm>
            <a:off x="10405872" y="4032504"/>
            <a:ext cx="768096" cy="768096"/>
          </a:xfrm>
          <a:prstGeom prst="ellipse">
            <a:avLst/>
          </a:prstGeom>
          <a:solidFill>
            <a:schemeClr val="bg1"/>
          </a:solidFill>
          <a:ln w="25400">
            <a:solidFill>
              <a:schemeClr val="tx1"/>
            </a:solidFill>
            <a:prstDash val="solid"/>
          </a:ln>
        </p:spPr>
      </p:sp>
      <p:sp>
        <p:nvSpPr>
          <p:cNvPr id="16" name="ev-hub-front-15"/>
          <p:cNvSpPr/>
          <p:nvPr/>
        </p:nvSpPr>
        <p:spPr>
          <a:xfrm>
            <a:off x="10661904" y="4288536"/>
            <a:ext cx="256032" cy="256032"/>
          </a:xfrm>
          <a:prstGeom prst="ellipse">
            <a:avLst/>
          </a:prstGeom>
          <a:solidFill>
            <a:schemeClr val="bg2"/>
          </a:solidFill>
          <a:ln w="12700">
            <a:solidFill>
              <a:schemeClr val="tx1"/>
            </a:solidFill>
            <a:prstDash val="solid"/>
          </a:ln>
        </p:spPr>
      </p:sp>
      <p:sp>
        <p:nvSpPr>
          <p:cNvPr id="17" name="ev-battery-16"/>
          <p:cNvSpPr/>
          <p:nvPr/>
        </p:nvSpPr>
        <p:spPr>
          <a:xfrm>
            <a:off x="9235440" y="3959352"/>
            <a:ext cx="1051560" cy="237744"/>
          </a:xfrm>
          <a:prstGeom prst="rect">
            <a:avLst/>
          </a:prstGeom>
          <a:solidFill>
            <a:schemeClr val="accent1"/>
          </a:solidFill>
          <a:ln w="6350">
            <a:solidFill>
              <a:schemeClr val="accent1"/>
            </a:solidFill>
            <a:prstDash val="solid"/>
          </a:ln>
        </p:spPr>
      </p:sp>
      <p:sp>
        <p:nvSpPr>
          <p:cNvPr id="18" name="ev-cell-17"/>
          <p:cNvSpPr/>
          <p:nvPr/>
        </p:nvSpPr>
        <p:spPr>
          <a:xfrm>
            <a:off x="9498330" y="3995928"/>
            <a:ext cx="0" cy="164592"/>
          </a:xfrm>
          <a:prstGeom prst="line">
            <a:avLst/>
          </a:prstGeom>
          <a:noFill/>
          <a:ln w="12700">
            <a:solidFill>
              <a:schemeClr val="bg1"/>
            </a:solidFill>
            <a:prstDash val="solid"/>
          </a:ln>
        </p:spPr>
      </p:sp>
      <p:sp>
        <p:nvSpPr>
          <p:cNvPr id="19" name="ev-cell-18"/>
          <p:cNvSpPr/>
          <p:nvPr/>
        </p:nvSpPr>
        <p:spPr>
          <a:xfrm>
            <a:off x="9761220" y="3995928"/>
            <a:ext cx="0" cy="164592"/>
          </a:xfrm>
          <a:prstGeom prst="line">
            <a:avLst/>
          </a:prstGeom>
          <a:noFill/>
          <a:ln w="12700">
            <a:solidFill>
              <a:schemeClr val="bg1"/>
            </a:solidFill>
            <a:prstDash val="solid"/>
          </a:ln>
        </p:spPr>
      </p:sp>
      <p:sp>
        <p:nvSpPr>
          <p:cNvPr id="20" name="ev-cell-19"/>
          <p:cNvSpPr/>
          <p:nvPr/>
        </p:nvSpPr>
        <p:spPr>
          <a:xfrm>
            <a:off x="10024110" y="3995928"/>
            <a:ext cx="0" cy="164592"/>
          </a:xfrm>
          <a:prstGeom prst="line">
            <a:avLst/>
          </a:prstGeom>
          <a:noFill/>
          <a:ln w="12700">
            <a:solidFill>
              <a:schemeClr val="bg1"/>
            </a:solidFill>
            <a:prstDash val="solid"/>
          </a:ln>
        </p:spPr>
      </p:sp>
      <p:sp>
        <p:nvSpPr>
          <p:cNvPr id="21" name="ev-motor-20"/>
          <p:cNvSpPr/>
          <p:nvPr/>
        </p:nvSpPr>
        <p:spPr>
          <a:xfrm>
            <a:off x="8851392" y="3959352"/>
            <a:ext cx="256032" cy="256032"/>
          </a:xfrm>
          <a:prstGeom prst="ellipse">
            <a:avLst/>
          </a:prstGeom>
          <a:solidFill>
            <a:schemeClr val="bg1"/>
          </a:solidFill>
          <a:ln w="19050">
            <a:solidFill>
              <a:schemeClr val="tx1"/>
            </a:solidFill>
            <a:prstDash val="solid"/>
          </a:ln>
        </p:spPr>
      </p:sp>
      <p:sp>
        <p:nvSpPr>
          <p:cNvPr id="22" name="ev-controller-21"/>
          <p:cNvSpPr/>
          <p:nvPr/>
        </p:nvSpPr>
        <p:spPr>
          <a:xfrm>
            <a:off x="9372600" y="3310128"/>
            <a:ext cx="685800" cy="329184"/>
          </a:xfrm>
          <a:prstGeom prst="rect">
            <a:avLst/>
          </a:prstGeom>
          <a:solidFill>
            <a:schemeClr val="bg1"/>
          </a:solidFill>
          <a:ln w="15875">
            <a:solidFill>
              <a:schemeClr val="tx1"/>
            </a:solidFill>
          </a:ln>
        </p:spPr>
        <p:txBody>
          <a:bodyPr wrap="square" lIns="0" tIns="0" rIns="0" bIns="0" rtlCol="0" anchor="ctr"/>
          <a:lstStyle/>
          <a:p>
            <a:pPr algn="ctr" indent="0" marL="0">
              <a:buNone/>
            </a:pPr>
            <a:r>
              <a:rPr lang="en-US" sz="1100" b="1" dirty="0">
                <a:solidFill>
                  <a:schemeClr val="tx1"/>
                </a:solidFill>
              </a:rPr>
              <a:t>LQR</a:t>
            </a:r>
            <a:endParaRPr lang="en-US" sz="1100" dirty="0"/>
          </a:p>
        </p:txBody>
      </p:sp>
      <p:sp>
        <p:nvSpPr>
          <p:cNvPr id="23" name="ev-torque-22"/>
          <p:cNvSpPr/>
          <p:nvPr/>
        </p:nvSpPr>
        <p:spPr>
          <a:xfrm flipH="1">
            <a:off x="8979408" y="3474720"/>
            <a:ext cx="393192" cy="0"/>
          </a:xfrm>
          <a:prstGeom prst="line">
            <a:avLst/>
          </a:prstGeom>
          <a:noFill/>
          <a:ln w="15875">
            <a:solidFill>
              <a:schemeClr val="tx1"/>
            </a:solidFill>
            <a:prstDash val="solid"/>
          </a:ln>
        </p:spPr>
      </p:sp>
      <p:sp>
        <p:nvSpPr>
          <p:cNvPr id="24" name="ev-torque-23"/>
          <p:cNvSpPr/>
          <p:nvPr/>
        </p:nvSpPr>
        <p:spPr>
          <a:xfrm>
            <a:off x="8979408" y="3474720"/>
            <a:ext cx="0" cy="484632"/>
          </a:xfrm>
          <a:prstGeom prst="line">
            <a:avLst/>
          </a:prstGeom>
          <a:noFill/>
          <a:ln w="15875">
            <a:solidFill>
              <a:schemeClr val="tx1"/>
            </a:solidFill>
            <a:prstDash val="solid"/>
            <a:tailEnd type="triangle"/>
          </a:ln>
        </p:spPr>
      </p:sp>
      <p:sp>
        <p:nvSpPr>
          <p:cNvPr id="25" name="ev-soh-24"/>
          <p:cNvSpPr/>
          <p:nvPr/>
        </p:nvSpPr>
        <p:spPr>
          <a:xfrm flipV="1">
            <a:off x="9875520" y="3639312"/>
            <a:ext cx="0" cy="320040"/>
          </a:xfrm>
          <a:prstGeom prst="line">
            <a:avLst/>
          </a:prstGeom>
          <a:noFill/>
          <a:ln w="15875">
            <a:solidFill>
              <a:schemeClr val="accent1"/>
            </a:solidFill>
            <a:prstDash val="dash"/>
            <a:tailEnd type="triangle"/>
          </a:ln>
        </p:spPr>
      </p:sp>
      <p:sp>
        <p:nvSpPr>
          <p:cNvPr id="26" name="ev-soh-label-25"/>
          <p:cNvSpPr txBox="1"/>
          <p:nvPr/>
        </p:nvSpPr>
        <p:spPr>
          <a:xfrm>
            <a:off x="9948672" y="3657600"/>
            <a:ext cx="457200" cy="228600"/>
          </a:xfrm>
          <a:prstGeom prst="rect">
            <a:avLst/>
          </a:prstGeom>
          <a:noFill/>
          <a:ln/>
        </p:spPr>
        <p:txBody>
          <a:bodyPr wrap="square" lIns="0" tIns="0" rIns="0" bIns="0" rtlCol="0" anchor="t"/>
          <a:lstStyle/>
          <a:p>
            <a:pPr indent="0" marL="0">
              <a:buNone/>
            </a:pPr>
            <a:r>
              <a:rPr lang="en-US" sz="1000" b="1" dirty="0">
                <a:solidFill>
                  <a:schemeClr val="accent1"/>
                </a:solidFill>
              </a:rPr>
              <a:t>SoH</a:t>
            </a:r>
            <a:endParaRPr lang="en-US" sz="1000" dirty="0"/>
          </a:p>
        </p:txBody>
      </p:sp>
      <p:sp>
        <p:nvSpPr>
          <p:cNvPr id="27" name="ev-ground-26"/>
          <p:cNvSpPr/>
          <p:nvPr/>
        </p:nvSpPr>
        <p:spPr>
          <a:xfrm>
            <a:off x="7360920" y="4800600"/>
            <a:ext cx="4480560" cy="0"/>
          </a:xfrm>
          <a:prstGeom prst="line">
            <a:avLst/>
          </a:prstGeom>
          <a:noFill/>
          <a:ln w="12700">
            <a:solidFill>
              <a:schemeClr val="accent3"/>
            </a:solidFill>
            <a:prstDash val="solid"/>
          </a:ln>
        </p:spPr>
      </p:sp>
      <p:sp>
        <p:nvSpPr>
          <p:cNvPr id="28" name="ev-caption-27"/>
          <p:cNvSpPr txBox="1"/>
          <p:nvPr/>
        </p:nvSpPr>
        <p:spPr>
          <a:xfrm>
            <a:off x="7635240" y="4956048"/>
            <a:ext cx="3931920" cy="274320"/>
          </a:xfrm>
          <a:prstGeom prst="rect">
            <a:avLst/>
          </a:prstGeom>
          <a:noFill/>
          <a:ln/>
        </p:spPr>
        <p:txBody>
          <a:bodyPr wrap="square" lIns="0" tIns="0" rIns="0" bIns="0" rtlCol="0" anchor="t"/>
          <a:lstStyle/>
          <a:p>
            <a:pPr indent="0" marL="0">
              <a:buNone/>
            </a:pPr>
            <a:r>
              <a:rPr lang="en-US" sz="1100" dirty="0">
                <a:solidFill>
                  <a:schemeClr val="tx2"/>
                </a:solidFill>
              </a:rPr>
              <a:t>Hệ truyền động: pin · động cơ · bộ điều khiển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300" b="1" spc="50" kern="0" dirty="0">
                <a:solidFill>
                  <a:schemeClr val="accent1"/>
                </a:solidFill>
              </a:rPr>
              <a:t>Vấn đề nghiên cứu</a:t>
            </a:r>
            <a:endParaRPr lang="en-US" sz="1300" dirty="0"/>
          </a:p>
        </p:txBody>
      </p:sp>
      <p:sp>
        <p:nvSpPr>
          <p:cNvPr id="3" name="Text 0"/>
          <p:cNvSpPr/>
          <p:nvPr>
            <p:ph idx="101" type="title" hasCustomPrompt="1"/>
          </p:nvPr>
        </p:nvSpPr>
        <p:spPr>
          <a:xfrm>
            <a:off x="548640" y="658368"/>
            <a:ext cx="11064240" cy="603504"/>
          </a:xfrm>
          <a:prstGeom prst="rect">
            <a:avLst/>
          </a:prstGeom>
          <a:noFill/>
          <a:ln/>
        </p:spPr>
        <p:txBody>
          <a:bodyPr wrap="square" lIns="0" tIns="0" rIns="0" bIns="0" rtlCol="0" anchor="ctr"/>
          <a:lstStyle/>
          <a:p>
            <a:pPr algn="l" indent="0" marL="0">
              <a:buNone/>
            </a:pPr>
            <a:r>
              <a:rPr lang="en-US" sz="3200" b="1" dirty="0">
                <a:solidFill>
                  <a:schemeClr val="tx1"/>
                </a:solidFill>
              </a:rPr>
              <a:t>Điều khiển thích nghi trước sự suy giảm của pin</a:t>
            </a:r>
            <a:endParaRPr lang="en-US" sz="3200" dirty="0"/>
          </a:p>
        </p:txBody>
      </p:sp>
      <p:sp>
        <p:nvSpPr>
          <p:cNvPr id="4" name="problem-panel-28"/>
          <p:cNvSpPr/>
          <p:nvPr/>
        </p:nvSpPr>
        <p:spPr>
          <a:xfrm>
            <a:off x="548640" y="1600200"/>
            <a:ext cx="4526280" cy="4480560"/>
          </a:xfrm>
          <a:prstGeom prst="rect">
            <a:avLst/>
          </a:prstGeom>
          <a:solidFill>
            <a:schemeClr val="bg2"/>
          </a:solidFill>
          <a:ln w="6350">
            <a:solidFill>
              <a:schemeClr val="bg2"/>
            </a:solidFill>
            <a:prstDash val="solid"/>
          </a:ln>
        </p:spPr>
      </p:sp>
      <p:sp>
        <p:nvSpPr>
          <p:cNvPr id="5" name="problem-label-29"/>
          <p:cNvSpPr txBox="1"/>
          <p:nvPr/>
        </p:nvSpPr>
        <p:spPr>
          <a:xfrm>
            <a:off x="868680" y="1828800"/>
            <a:ext cx="27432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BÀI TOÁN</a:t>
            </a:r>
            <a:endParaRPr lang="en-US" sz="1200" dirty="0"/>
          </a:p>
        </p:txBody>
      </p:sp>
      <p:sp>
        <p:nvSpPr>
          <p:cNvPr id="6" name="problem-step-30"/>
          <p:cNvSpPr txBox="1"/>
          <p:nvPr/>
        </p:nvSpPr>
        <p:spPr>
          <a:xfrm>
            <a:off x="868680" y="2212848"/>
            <a:ext cx="3977640" cy="731520"/>
          </a:xfrm>
          <a:prstGeom prst="rect">
            <a:avLst/>
          </a:prstGeom>
          <a:noFill/>
          <a:ln/>
        </p:spPr>
        <p:txBody>
          <a:bodyPr wrap="square" lIns="0" tIns="0" rIns="0" bIns="0" rtlCol="0" anchor="t"/>
          <a:lstStyle/>
          <a:p>
            <a:pPr indent="0" marL="0">
              <a:buNone/>
            </a:pPr>
            <a:r>
              <a:rPr lang="en-US" sz="1700" b="1" dirty="0">
                <a:solidFill>
                  <a:schemeClr val="tx1"/>
                </a:solidFill>
              </a:rPr>
              <a:t>Pin suy giảm theo thời gian sử dụng</a:t>
            </a:r>
            <a:endParaRPr lang="en-US" sz="1600" dirty="0"/>
          </a:p>
          <a:p>
            <a:pPr indent="0" marL="0">
              <a:buNone/>
            </a:pPr>
            <a:r>
              <a:rPr lang="en-US" sz="1400" dirty="0">
                <a:solidFill>
                  <a:schemeClr val="tx2"/>
                </a:solidFill>
              </a:rPr>
              <a:t>SoH (trạng thái sức khỏe pin) giảm dần</a:t>
            </a:r>
            <a:endParaRPr lang="en-US" sz="1600" dirty="0"/>
          </a:p>
        </p:txBody>
      </p:sp>
      <p:sp>
        <p:nvSpPr>
          <p:cNvPr id="7" name="problem-arrow-31"/>
          <p:cNvSpPr/>
          <p:nvPr/>
        </p:nvSpPr>
        <p:spPr>
          <a:xfrm>
            <a:off x="1005840" y="2926080"/>
            <a:ext cx="0" cy="256032"/>
          </a:xfrm>
          <a:prstGeom prst="line">
            <a:avLst/>
          </a:prstGeom>
          <a:noFill/>
          <a:ln w="19050">
            <a:solidFill>
              <a:schemeClr val="accent1"/>
            </a:solidFill>
            <a:prstDash val="solid"/>
            <a:tailEnd type="triangle"/>
          </a:ln>
        </p:spPr>
      </p:sp>
      <p:sp>
        <p:nvSpPr>
          <p:cNvPr id="8" name="problem-step-32"/>
          <p:cNvSpPr txBox="1"/>
          <p:nvPr/>
        </p:nvSpPr>
        <p:spPr>
          <a:xfrm>
            <a:off x="868680" y="3191256"/>
            <a:ext cx="3977640" cy="731520"/>
          </a:xfrm>
          <a:prstGeom prst="rect">
            <a:avLst/>
          </a:prstGeom>
          <a:noFill/>
          <a:ln/>
        </p:spPr>
        <p:txBody>
          <a:bodyPr wrap="square" lIns="0" tIns="0" rIns="0" bIns="0" rtlCol="0" anchor="t"/>
          <a:lstStyle/>
          <a:p>
            <a:pPr indent="0" marL="0">
              <a:buNone/>
            </a:pPr>
            <a:r>
              <a:rPr lang="en-US" sz="1700" b="1" dirty="0">
                <a:solidFill>
                  <a:schemeClr val="tx1"/>
                </a:solidFill>
              </a:rPr>
              <a:t>Nội trở tăng, dung lượng giảm</a:t>
            </a:r>
            <a:endParaRPr lang="en-US" sz="1600" dirty="0"/>
          </a:p>
          <a:p>
            <a:pPr indent="0" marL="0">
              <a:buNone/>
            </a:pPr>
            <a:r>
              <a:rPr lang="en-US" sz="1400" dirty="0">
                <a:solidFill>
                  <a:schemeClr val="tx2"/>
                </a:solidFill>
              </a:rPr>
              <a:t>R</a:t>
            </a:r>
            <a:pPr indent="0" marL="0">
              <a:buNone/>
            </a:pPr>
            <a:r>
              <a:rPr lang="en-US" sz="1400" baseline="-40000" dirty="0">
                <a:solidFill>
                  <a:schemeClr val="tx2"/>
                </a:solidFill>
              </a:rPr>
              <a:t>0</a:t>
            </a:r>
            <a:pPr indent="0" marL="0">
              <a:buNone/>
            </a:pPr>
            <a:r>
              <a:rPr lang="en-US" sz="1400" dirty="0">
                <a:solidFill>
                  <a:schemeClr val="tx2"/>
                </a:solidFill>
              </a:rPr>
              <a:t>, R</a:t>
            </a:r>
            <a:pPr indent="0" marL="0">
              <a:buNone/>
            </a:pPr>
            <a:r>
              <a:rPr lang="en-US" sz="1400" baseline="-40000" dirty="0">
                <a:solidFill>
                  <a:schemeClr val="tx2"/>
                </a:solidFill>
              </a:rPr>
              <a:t>1</a:t>
            </a:r>
            <a:pPr indent="0" marL="0">
              <a:buNone/>
            </a:pPr>
            <a:r>
              <a:rPr lang="en-US" sz="1400" dirty="0">
                <a:solidFill>
                  <a:schemeClr val="tx2"/>
                </a:solidFill>
              </a:rPr>
              <a:t> của mô hình pin phụ thuộc SoH</a:t>
            </a:r>
            <a:endParaRPr lang="en-US" sz="1600" dirty="0"/>
          </a:p>
        </p:txBody>
      </p:sp>
      <p:sp>
        <p:nvSpPr>
          <p:cNvPr id="9" name="problem-arrow-33"/>
          <p:cNvSpPr/>
          <p:nvPr/>
        </p:nvSpPr>
        <p:spPr>
          <a:xfrm>
            <a:off x="1005840" y="3904488"/>
            <a:ext cx="0" cy="256032"/>
          </a:xfrm>
          <a:prstGeom prst="line">
            <a:avLst/>
          </a:prstGeom>
          <a:noFill/>
          <a:ln w="19050">
            <a:solidFill>
              <a:schemeClr val="accent1"/>
            </a:solidFill>
            <a:prstDash val="solid"/>
            <a:tailEnd type="triangle"/>
          </a:ln>
        </p:spPr>
      </p:sp>
      <p:sp>
        <p:nvSpPr>
          <p:cNvPr id="10" name="problem-step-34"/>
          <p:cNvSpPr txBox="1"/>
          <p:nvPr/>
        </p:nvSpPr>
        <p:spPr>
          <a:xfrm>
            <a:off x="868680" y="4169664"/>
            <a:ext cx="3977640" cy="731520"/>
          </a:xfrm>
          <a:prstGeom prst="rect">
            <a:avLst/>
          </a:prstGeom>
          <a:noFill/>
          <a:ln/>
        </p:spPr>
        <p:txBody>
          <a:bodyPr wrap="square" lIns="0" tIns="0" rIns="0" bIns="0" rtlCol="0" anchor="t"/>
          <a:lstStyle/>
          <a:p>
            <a:pPr indent="0" marL="0">
              <a:buNone/>
            </a:pPr>
            <a:r>
              <a:rPr lang="en-US" sz="1700" b="1" dirty="0">
                <a:solidFill>
                  <a:schemeClr val="tx1"/>
                </a:solidFill>
              </a:rPr>
              <a:t>LQR hệ số cố định</a:t>
            </a:r>
            <a:endParaRPr lang="en-US" sz="1600" dirty="0"/>
          </a:p>
          <a:p>
            <a:pPr indent="0" marL="0">
              <a:buNone/>
            </a:pPr>
            <a:r>
              <a:rPr lang="en-US" sz="1400" dirty="0">
                <a:solidFill>
                  <a:schemeClr val="tx2"/>
                </a:solidFill>
              </a:rPr>
              <a:t>thiết kế một lần cho pin mới</a:t>
            </a:r>
            <a:endParaRPr lang="en-US" sz="1600" dirty="0"/>
          </a:p>
        </p:txBody>
      </p:sp>
      <p:sp>
        <p:nvSpPr>
          <p:cNvPr id="11" name="problem-divider-35"/>
          <p:cNvSpPr/>
          <p:nvPr/>
        </p:nvSpPr>
        <p:spPr>
          <a:xfrm>
            <a:off x="868680" y="5029200"/>
            <a:ext cx="3886200" cy="0"/>
          </a:xfrm>
          <a:prstGeom prst="line">
            <a:avLst/>
          </a:prstGeom>
          <a:noFill/>
          <a:ln w="12700">
            <a:solidFill>
              <a:schemeClr val="accent6"/>
            </a:solidFill>
            <a:prstDash val="solid"/>
          </a:ln>
        </p:spPr>
      </p:sp>
      <p:sp>
        <p:nvSpPr>
          <p:cNvPr id="12" name="problem-question-36"/>
          <p:cNvSpPr txBox="1"/>
          <p:nvPr/>
        </p:nvSpPr>
        <p:spPr>
          <a:xfrm>
            <a:off x="868680" y="5166360"/>
            <a:ext cx="3977640" cy="731520"/>
          </a:xfrm>
          <a:prstGeom prst="rect">
            <a:avLst/>
          </a:prstGeom>
          <a:noFill/>
          <a:ln/>
        </p:spPr>
        <p:txBody>
          <a:bodyPr wrap="square" lIns="0" tIns="0" rIns="0" bIns="0" rtlCol="0" anchor="t"/>
          <a:lstStyle/>
          <a:p>
            <a:pPr indent="0" marL="0">
              <a:buNone/>
            </a:pPr>
            <a:r>
              <a:rPr lang="en-US" sz="1500" b="1" dirty="0">
                <a:solidFill>
                  <a:schemeClr val="tx1"/>
                </a:solidFill>
              </a:rPr>
              <a:t>Luật điều khiển nên thích nghi với SoH thế nào để cân bằng năng lượng và lão hóa pin?</a:t>
            </a:r>
            <a:endParaRPr lang="en-US" sz="1500" dirty="0"/>
          </a:p>
        </p:txBody>
      </p:sp>
      <p:sp>
        <p:nvSpPr>
          <p:cNvPr id="13" name="approach-label-37"/>
          <p:cNvSpPr txBox="1"/>
          <p:nvPr/>
        </p:nvSpPr>
        <p:spPr>
          <a:xfrm>
            <a:off x="5577840" y="1828800"/>
            <a:ext cx="54864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HƯỚNG TIẾP CẬN ĐỀ XUẤT</a:t>
            </a:r>
            <a:endParaRPr lang="en-US" sz="1200" dirty="0"/>
          </a:p>
        </p:txBody>
      </p:sp>
      <p:sp>
        <p:nvSpPr>
          <p:cNvPr id="14" name="approach-num-38"/>
          <p:cNvSpPr txBox="1"/>
          <p:nvPr/>
        </p:nvSpPr>
        <p:spPr>
          <a:xfrm>
            <a:off x="5577840" y="2240280"/>
            <a:ext cx="685800" cy="365760"/>
          </a:xfrm>
          <a:prstGeom prst="rect">
            <a:avLst/>
          </a:prstGeom>
          <a:noFill/>
          <a:ln/>
        </p:spPr>
        <p:txBody>
          <a:bodyPr wrap="square" lIns="0" tIns="0" rIns="0" bIns="0" rtlCol="0" anchor="t"/>
          <a:lstStyle/>
          <a:p>
            <a:pPr indent="0" marL="0">
              <a:buNone/>
            </a:pPr>
            <a:r>
              <a:rPr lang="en-US" sz="2200" b="1" dirty="0">
                <a:solidFill>
                  <a:schemeClr val="accent1"/>
                </a:solidFill>
              </a:rPr>
              <a:t>01</a:t>
            </a:r>
            <a:endParaRPr lang="en-US" sz="2200" dirty="0"/>
          </a:p>
        </p:txBody>
      </p:sp>
      <p:sp>
        <p:nvSpPr>
          <p:cNvPr id="15" name="approach-row-39"/>
          <p:cNvSpPr txBox="1"/>
          <p:nvPr/>
        </p:nvSpPr>
        <p:spPr>
          <a:xfrm>
            <a:off x="6355080" y="2240280"/>
            <a:ext cx="5285232" cy="1051560"/>
          </a:xfrm>
          <a:prstGeom prst="rect">
            <a:avLst/>
          </a:prstGeom>
          <a:noFill/>
          <a:ln/>
        </p:spPr>
        <p:txBody>
          <a:bodyPr wrap="square" lIns="0" tIns="0" rIns="0" bIns="0" rtlCol="0" anchor="t"/>
          <a:lstStyle/>
          <a:p>
            <a:pPr indent="0" marL="0">
              <a:spcAft>
                <a:spcPts val="300"/>
              </a:spcAft>
              <a:buNone/>
            </a:pPr>
            <a:r>
              <a:rPr lang="en-US" sz="2000" b="1" dirty="0">
                <a:solidFill>
                  <a:schemeClr val="tx1"/>
                </a:solidFill>
              </a:rPr>
              <a:t>Điều khiển thích nghi</a:t>
            </a:r>
            <a:endParaRPr lang="en-US" sz="1600" dirty="0"/>
          </a:p>
          <a:p>
            <a:pPr indent="0" marL="0">
              <a:spcAft>
                <a:spcPts val="300"/>
              </a:spcAft>
              <a:buNone/>
            </a:pPr>
            <a:r>
              <a:rPr lang="en-US" sz="1600" dirty="0">
                <a:solidFill>
                  <a:schemeClr val="tx2"/>
                </a:solidFill>
              </a:rPr>
              <a:t>LQR lập lịch hệ số theo SoH ước lượng</a:t>
            </a:r>
            <a:endParaRPr lang="en-US" sz="1600" dirty="0"/>
          </a:p>
          <a:p>
            <a:pPr indent="0" marL="0">
              <a:spcAft>
                <a:spcPts val="300"/>
              </a:spcAft>
              <a:buNone/>
            </a:pPr>
            <a:r>
              <a:rPr lang="en-US" sz="1500" dirty="0">
                <a:solidFill>
                  <a:schemeClr val="tx1"/>
                </a:solidFill>
              </a:rPr>
              <a:t>J = Σ ( x</a:t>
            </a:r>
            <a:pPr indent="0" marL="0">
              <a:spcAft>
                <a:spcPts val="300"/>
              </a:spcAft>
              <a:buNone/>
            </a:pPr>
            <a:r>
              <a:rPr lang="en-US" sz="1500" baseline="30000" dirty="0">
                <a:solidFill>
                  <a:schemeClr val="tx1"/>
                </a:solidFill>
              </a:rPr>
              <a:t>T</a:t>
            </a:r>
            <a:pPr indent="0" marL="0">
              <a:spcAft>
                <a:spcPts val="300"/>
              </a:spcAft>
              <a:buNone/>
            </a:pPr>
            <a:r>
              <a:rPr lang="en-US" sz="1500" dirty="0">
                <a:solidFill>
                  <a:schemeClr val="tx1"/>
                </a:solidFill>
              </a:rPr>
              <a:t>Q(SoH) x + u</a:t>
            </a:r>
            <a:pPr indent="0" marL="0">
              <a:spcAft>
                <a:spcPts val="300"/>
              </a:spcAft>
              <a:buNone/>
            </a:pPr>
            <a:r>
              <a:rPr lang="en-US" sz="1500" baseline="30000" dirty="0">
                <a:solidFill>
                  <a:schemeClr val="tx1"/>
                </a:solidFill>
              </a:rPr>
              <a:t>T</a:t>
            </a:r>
            <a:pPr indent="0" marL="0">
              <a:spcAft>
                <a:spcPts val="300"/>
              </a:spcAft>
              <a:buNone/>
            </a:pPr>
            <a:r>
              <a:rPr lang="en-US" sz="1500" dirty="0">
                <a:solidFill>
                  <a:schemeClr val="tx1"/>
                </a:solidFill>
              </a:rPr>
              <a:t>R(SoH) u )</a:t>
            </a:r>
            <a:endParaRPr lang="en-US" sz="1600" dirty="0"/>
          </a:p>
        </p:txBody>
      </p:sp>
      <p:sp>
        <p:nvSpPr>
          <p:cNvPr id="16" name="approach-divider-40"/>
          <p:cNvSpPr/>
          <p:nvPr/>
        </p:nvSpPr>
        <p:spPr>
          <a:xfrm>
            <a:off x="5577840" y="3355848"/>
            <a:ext cx="6062472" cy="0"/>
          </a:xfrm>
          <a:prstGeom prst="line">
            <a:avLst/>
          </a:prstGeom>
          <a:noFill/>
          <a:ln w="12700">
            <a:solidFill>
              <a:schemeClr val="accent3"/>
            </a:solidFill>
            <a:prstDash val="solid"/>
          </a:ln>
        </p:spPr>
      </p:sp>
      <p:sp>
        <p:nvSpPr>
          <p:cNvPr id="17" name="approach-num-41"/>
          <p:cNvSpPr txBox="1"/>
          <p:nvPr/>
        </p:nvSpPr>
        <p:spPr>
          <a:xfrm>
            <a:off x="5577840" y="3538728"/>
            <a:ext cx="685800" cy="365760"/>
          </a:xfrm>
          <a:prstGeom prst="rect">
            <a:avLst/>
          </a:prstGeom>
          <a:noFill/>
          <a:ln/>
        </p:spPr>
        <p:txBody>
          <a:bodyPr wrap="square" lIns="0" tIns="0" rIns="0" bIns="0" rtlCol="0" anchor="t"/>
          <a:lstStyle/>
          <a:p>
            <a:pPr indent="0" marL="0">
              <a:buNone/>
            </a:pPr>
            <a:r>
              <a:rPr lang="en-US" sz="2200" b="1" dirty="0">
                <a:solidFill>
                  <a:schemeClr val="accent1"/>
                </a:solidFill>
              </a:rPr>
              <a:t>02</a:t>
            </a:r>
            <a:endParaRPr lang="en-US" sz="2200" dirty="0"/>
          </a:p>
        </p:txBody>
      </p:sp>
      <p:sp>
        <p:nvSpPr>
          <p:cNvPr id="18" name="approach-row-42"/>
          <p:cNvSpPr txBox="1"/>
          <p:nvPr/>
        </p:nvSpPr>
        <p:spPr>
          <a:xfrm>
            <a:off x="6355080" y="3538728"/>
            <a:ext cx="5285232" cy="1051560"/>
          </a:xfrm>
          <a:prstGeom prst="rect">
            <a:avLst/>
          </a:prstGeom>
          <a:noFill/>
          <a:ln/>
        </p:spPr>
        <p:txBody>
          <a:bodyPr wrap="square" lIns="0" tIns="0" rIns="0" bIns="0" rtlCol="0" anchor="t"/>
          <a:lstStyle/>
          <a:p>
            <a:pPr indent="0" marL="0">
              <a:spcAft>
                <a:spcPts val="300"/>
              </a:spcAft>
              <a:buNone/>
            </a:pPr>
            <a:r>
              <a:rPr lang="en-US" sz="2000" b="1" dirty="0">
                <a:solidFill>
                  <a:schemeClr val="tx1"/>
                </a:solidFill>
              </a:rPr>
              <a:t>Năng lượng và lão hóa pin</a:t>
            </a:r>
            <a:endParaRPr lang="en-US" sz="1600" dirty="0"/>
          </a:p>
          <a:p>
            <a:pPr indent="0" marL="0">
              <a:spcAft>
                <a:spcPts val="300"/>
              </a:spcAft>
              <a:buNone/>
            </a:pPr>
            <a:r>
              <a:rPr lang="en-US" sz="1600" dirty="0">
                <a:solidFill>
                  <a:schemeClr val="tx2"/>
                </a:solidFill>
              </a:rPr>
              <a:t>Đánh giá đồng thời Wh/km và suy giảm dung lượng,</a:t>
            </a:r>
            <a:endParaRPr lang="en-US" sz="1600" dirty="0"/>
          </a:p>
          <a:p>
            <a:pPr indent="0" marL="0">
              <a:spcAft>
                <a:spcPts val="300"/>
              </a:spcAft>
              <a:buNone/>
            </a:pPr>
            <a:r>
              <a:rPr lang="en-US" sz="1600" dirty="0">
                <a:solidFill>
                  <a:schemeClr val="tx2"/>
                </a:solidFill>
              </a:rPr>
              <a:t>như hai chỉ số tách biệt</a:t>
            </a:r>
            <a:endParaRPr lang="en-US" sz="1600" dirty="0"/>
          </a:p>
        </p:txBody>
      </p:sp>
      <p:sp>
        <p:nvSpPr>
          <p:cNvPr id="19" name="approach-divider-43"/>
          <p:cNvSpPr/>
          <p:nvPr/>
        </p:nvSpPr>
        <p:spPr>
          <a:xfrm>
            <a:off x="5577840" y="4654296"/>
            <a:ext cx="6062472" cy="0"/>
          </a:xfrm>
          <a:prstGeom prst="line">
            <a:avLst/>
          </a:prstGeom>
          <a:noFill/>
          <a:ln w="12700">
            <a:solidFill>
              <a:schemeClr val="accent3"/>
            </a:solidFill>
            <a:prstDash val="solid"/>
          </a:ln>
        </p:spPr>
      </p:sp>
      <p:sp>
        <p:nvSpPr>
          <p:cNvPr id="20" name="approach-num-44"/>
          <p:cNvSpPr txBox="1"/>
          <p:nvPr/>
        </p:nvSpPr>
        <p:spPr>
          <a:xfrm>
            <a:off x="5577840" y="4837176"/>
            <a:ext cx="685800" cy="365760"/>
          </a:xfrm>
          <a:prstGeom prst="rect">
            <a:avLst/>
          </a:prstGeom>
          <a:noFill/>
          <a:ln/>
        </p:spPr>
        <p:txBody>
          <a:bodyPr wrap="square" lIns="0" tIns="0" rIns="0" bIns="0" rtlCol="0" anchor="t"/>
          <a:lstStyle/>
          <a:p>
            <a:pPr indent="0" marL="0">
              <a:buNone/>
            </a:pPr>
            <a:r>
              <a:rPr lang="en-US" sz="2200" b="1" dirty="0">
                <a:solidFill>
                  <a:schemeClr val="accent1"/>
                </a:solidFill>
              </a:rPr>
              <a:t>03</a:t>
            </a:r>
            <a:endParaRPr lang="en-US" sz="2200" dirty="0"/>
          </a:p>
        </p:txBody>
      </p:sp>
      <p:sp>
        <p:nvSpPr>
          <p:cNvPr id="21" name="approach-row-45"/>
          <p:cNvSpPr txBox="1"/>
          <p:nvPr/>
        </p:nvSpPr>
        <p:spPr>
          <a:xfrm>
            <a:off x="6355080" y="4837176"/>
            <a:ext cx="5285232" cy="1051560"/>
          </a:xfrm>
          <a:prstGeom prst="rect">
            <a:avLst/>
          </a:prstGeom>
          <a:noFill/>
          <a:ln/>
        </p:spPr>
        <p:txBody>
          <a:bodyPr wrap="square" lIns="0" tIns="0" rIns="0" bIns="0" rtlCol="0" anchor="t"/>
          <a:lstStyle/>
          <a:p>
            <a:pPr indent="0" marL="0">
              <a:spcAft>
                <a:spcPts val="300"/>
              </a:spcAft>
              <a:buNone/>
            </a:pPr>
            <a:r>
              <a:rPr lang="en-US" sz="2000" b="1" dirty="0">
                <a:solidFill>
                  <a:schemeClr val="tx1"/>
                </a:solidFill>
              </a:rPr>
              <a:t>Thiết kế đa mục tiêu</a:t>
            </a:r>
            <a:endParaRPr lang="en-US" sz="1600" dirty="0"/>
          </a:p>
          <a:p>
            <a:pPr indent="0" marL="0">
              <a:spcAft>
                <a:spcPts val="300"/>
              </a:spcAft>
              <a:buNone/>
            </a:pPr>
            <a:r>
              <a:rPr lang="en-US" sz="1600" dirty="0">
                <a:solidFill>
                  <a:schemeClr val="tx2"/>
                </a:solidFill>
              </a:rPr>
              <a:t>NSGA-II khám phá đánh đổi giữa các bộ trọng số Q, R</a:t>
            </a:r>
            <a:endParaRPr lang="en-US" sz="1600" dirty="0"/>
          </a:p>
          <a:p>
            <a:pPr indent="0" marL="0">
              <a:spcAft>
                <a:spcPts val="300"/>
              </a:spcAft>
              <a:buNone/>
            </a:pPr>
            <a:r>
              <a:rPr lang="en-US" sz="1600" dirty="0">
                <a:solidFill>
                  <a:schemeClr val="tx2"/>
                </a:solidFill>
              </a:rPr>
              <a:t>dưới ràng buộc ổn định và bám tốc độ</a:t>
            </a:r>
            <a:endParaRPr lang="en-US" sz="1600" dirty="0"/>
          </a:p>
        </p:txBody>
      </p:sp>
      <p:sp>
        <p:nvSpPr>
          <p:cNvPr id="25" name="Slide Number Placeholder 0"/>
          <p:cNvSpPr>
            <a:spLocks noGrp="1"/>
          </p:cNvSpPr>
          <p:nvPr>
            <p:ph type="sldNum" sz="quarter" idx="4294967295"/>
          </p:nvPr>
        </p:nvSpPr>
        <p:spPr>
          <a:xfrm>
            <a:off x="11091672"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300" b="1" spc="50" kern="0" dirty="0">
                <a:solidFill>
                  <a:schemeClr val="accent1"/>
                </a:solidFill>
              </a:rPr>
              <a:t>Kiến trúc hệ thống</a:t>
            </a:r>
            <a:endParaRPr lang="en-US" sz="1300" dirty="0"/>
          </a:p>
        </p:txBody>
      </p:sp>
      <p:sp>
        <p:nvSpPr>
          <p:cNvPr id="3" name="Text 0"/>
          <p:cNvSpPr/>
          <p:nvPr>
            <p:ph idx="101" type="title" hasCustomPrompt="1"/>
          </p:nvPr>
        </p:nvSpPr>
        <p:spPr>
          <a:xfrm>
            <a:off x="548640" y="658368"/>
            <a:ext cx="11064240" cy="603504"/>
          </a:xfrm>
          <a:prstGeom prst="rect">
            <a:avLst/>
          </a:prstGeom>
          <a:noFill/>
          <a:ln/>
        </p:spPr>
        <p:txBody>
          <a:bodyPr wrap="square" lIns="0" tIns="0" rIns="0" bIns="0" rtlCol="0" anchor="ctr"/>
          <a:lstStyle/>
          <a:p>
            <a:pPr algn="l" indent="0" marL="0">
              <a:buNone/>
            </a:pPr>
            <a:r>
              <a:rPr lang="en-US" sz="3200" b="1" dirty="0">
                <a:solidFill>
                  <a:schemeClr val="tx1"/>
                </a:solidFill>
              </a:rPr>
              <a:t>Kiến trúc điều khiển và tối ưu hóa tích hợp</a:t>
            </a:r>
            <a:endParaRPr lang="en-US" sz="3200" dirty="0"/>
          </a:p>
        </p:txBody>
      </p:sp>
      <p:sp>
        <p:nvSpPr>
          <p:cNvPr id="4" name="ctrl-container-46"/>
          <p:cNvSpPr/>
          <p:nvPr/>
        </p:nvSpPr>
        <p:spPr>
          <a:xfrm>
            <a:off x="2660904" y="1874520"/>
            <a:ext cx="2468880" cy="1920240"/>
          </a:xfrm>
          <a:prstGeom prst="rect">
            <a:avLst/>
          </a:prstGeom>
          <a:solidFill>
            <a:schemeClr val="bg2"/>
          </a:solidFill>
          <a:ln w="12700">
            <a:solidFill>
              <a:schemeClr val="accent4"/>
            </a:solidFill>
            <a:prstDash val="solid"/>
          </a:ln>
        </p:spPr>
      </p:sp>
      <p:sp>
        <p:nvSpPr>
          <p:cNvPr id="5" name="ctrl-label-47"/>
          <p:cNvSpPr txBox="1"/>
          <p:nvPr/>
        </p:nvSpPr>
        <p:spPr>
          <a:xfrm>
            <a:off x="2798064" y="1965960"/>
            <a:ext cx="2194560" cy="228600"/>
          </a:xfrm>
          <a:prstGeom prst="rect">
            <a:avLst/>
          </a:prstGeom>
          <a:noFill/>
          <a:ln/>
        </p:spPr>
        <p:txBody>
          <a:bodyPr wrap="square" lIns="0" tIns="0" rIns="0" bIns="0" rtlCol="0" anchor="t"/>
          <a:lstStyle/>
          <a:p>
            <a:pPr indent="0" marL="0">
              <a:buNone/>
            </a:pPr>
            <a:r>
              <a:rPr lang="en-US" sz="1100" b="1" spc="50" kern="0" dirty="0">
                <a:solidFill>
                  <a:schemeClr val="tx2"/>
                </a:solidFill>
              </a:rPr>
              <a:t>BỘ ĐIỀU KHIỂN · A/B</a:t>
            </a:r>
            <a:endParaRPr lang="en-US" sz="1100" dirty="0"/>
          </a:p>
        </p:txBody>
      </p:sp>
      <p:sp>
        <p:nvSpPr>
          <p:cNvPr id="6" name="plant-container-48"/>
          <p:cNvSpPr/>
          <p:nvPr/>
        </p:nvSpPr>
        <p:spPr>
          <a:xfrm>
            <a:off x="5724144" y="1874520"/>
            <a:ext cx="2514600" cy="1920240"/>
          </a:xfrm>
          <a:prstGeom prst="rect">
            <a:avLst/>
          </a:prstGeom>
          <a:solidFill>
            <a:schemeClr val="bg2"/>
          </a:solidFill>
          <a:ln w="12700">
            <a:solidFill>
              <a:schemeClr val="accent4"/>
            </a:solidFill>
            <a:prstDash val="solid"/>
          </a:ln>
        </p:spPr>
      </p:sp>
      <p:sp>
        <p:nvSpPr>
          <p:cNvPr id="7" name="plant-label-49"/>
          <p:cNvSpPr txBox="1"/>
          <p:nvPr/>
        </p:nvSpPr>
        <p:spPr>
          <a:xfrm>
            <a:off x="5861304" y="1965960"/>
            <a:ext cx="2240280" cy="228600"/>
          </a:xfrm>
          <a:prstGeom prst="rect">
            <a:avLst/>
          </a:prstGeom>
          <a:noFill/>
          <a:ln/>
        </p:spPr>
        <p:txBody>
          <a:bodyPr wrap="square" lIns="0" tIns="0" rIns="0" bIns="0" rtlCol="0" anchor="t"/>
          <a:lstStyle/>
          <a:p>
            <a:pPr indent="0" marL="0">
              <a:buNone/>
            </a:pPr>
            <a:r>
              <a:rPr lang="en-US" sz="1100" b="1" spc="50" kern="0" dirty="0">
                <a:solidFill>
                  <a:schemeClr val="tx2"/>
                </a:solidFill>
              </a:rPr>
              <a:t>HỆ TRUYỀN ĐỘNG MICRO-EV</a:t>
            </a:r>
            <a:endParaRPr lang="en-US" sz="1100" dirty="0"/>
          </a:p>
        </p:txBody>
      </p:sp>
      <p:sp>
        <p:nvSpPr>
          <p:cNvPr id="8" name="metrics-label-50"/>
          <p:cNvSpPr txBox="1"/>
          <p:nvPr/>
        </p:nvSpPr>
        <p:spPr>
          <a:xfrm>
            <a:off x="9061704" y="1965960"/>
            <a:ext cx="2578608" cy="228600"/>
          </a:xfrm>
          <a:prstGeom prst="rect">
            <a:avLst/>
          </a:prstGeom>
          <a:noFill/>
          <a:ln/>
        </p:spPr>
        <p:txBody>
          <a:bodyPr wrap="square" lIns="0" tIns="0" rIns="0" bIns="0" rtlCol="0" anchor="t"/>
          <a:lstStyle/>
          <a:p>
            <a:pPr indent="0" marL="0">
              <a:buNone/>
            </a:pPr>
            <a:r>
              <a:rPr lang="en-US" sz="1100" b="1" spc="50" kern="0" dirty="0">
                <a:solidFill>
                  <a:schemeClr val="tx2"/>
                </a:solidFill>
              </a:rPr>
              <a:t>CHỈ SỐ ĐẦU RA</a:t>
            </a:r>
            <a:endParaRPr lang="en-US" sz="1100" dirty="0"/>
          </a:p>
        </p:txBody>
      </p:sp>
      <p:sp>
        <p:nvSpPr>
          <p:cNvPr id="9" name="drive-cycle-51"/>
          <p:cNvSpPr/>
          <p:nvPr/>
        </p:nvSpPr>
        <p:spPr>
          <a:xfrm>
            <a:off x="548640" y="2468880"/>
            <a:ext cx="1207008" cy="822960"/>
          </a:xfrm>
          <a:prstGeom prst="rect">
            <a:avLst/>
          </a:prstGeom>
          <a:solidFill>
            <a:schemeClr val="bg1"/>
          </a:solidFill>
          <a:ln w="15875">
            <a:solidFill>
              <a:schemeClr val="tx1"/>
            </a:solidFill>
          </a:ln>
        </p:spPr>
        <p:txBody>
          <a:bodyPr wrap="square" lIns="25400" tIns="101600" rIns="101600" bIns="25400" rtlCol="0" anchor="ctr"/>
          <a:lstStyle/>
          <a:p>
            <a:pPr algn="ctr" indent="0" marL="0">
              <a:buNone/>
            </a:pPr>
            <a:r>
              <a:rPr lang="en-US" sz="1400" b="1" dirty="0">
                <a:solidFill>
                  <a:schemeClr val="tx1"/>
                </a:solidFill>
              </a:rPr>
              <a:t>Chu trình lái</a:t>
            </a:r>
            <a:endParaRPr lang="en-US" sz="1400" dirty="0"/>
          </a:p>
          <a:p>
            <a:pPr algn="ctr" indent="0" marL="0">
              <a:buNone/>
            </a:pPr>
            <a:r>
              <a:rPr lang="en-US" sz="1300" dirty="0">
                <a:solidFill>
                  <a:schemeClr val="tx2"/>
                </a:solidFill>
              </a:rPr>
              <a:t>v</a:t>
            </a:r>
            <a:pPr algn="ctr" indent="0" marL="0">
              <a:buNone/>
            </a:pPr>
            <a:r>
              <a:rPr lang="en-US" sz="1300" baseline="-40000" dirty="0">
                <a:solidFill>
                  <a:schemeClr val="tx2"/>
                </a:solidFill>
              </a:rPr>
              <a:t>ref</a:t>
            </a:r>
            <a:pPr algn="ctr" indent="0" marL="0">
              <a:buNone/>
            </a:pPr>
            <a:r>
              <a:rPr lang="en-US" sz="1300" dirty="0">
                <a:solidFill>
                  <a:schemeClr val="tx2"/>
                </a:solidFill>
              </a:rPr>
              <a:t>(t)</a:t>
            </a:r>
            <a:endParaRPr lang="en-US" sz="1400" dirty="0"/>
          </a:p>
        </p:txBody>
      </p:sp>
      <p:sp>
        <p:nvSpPr>
          <p:cNvPr id="10" name="fixed-lqr-52"/>
          <p:cNvSpPr/>
          <p:nvPr/>
        </p:nvSpPr>
        <p:spPr>
          <a:xfrm>
            <a:off x="2798064" y="2240280"/>
            <a:ext cx="2194560" cy="621792"/>
          </a:xfrm>
          <a:prstGeom prst="rect">
            <a:avLst/>
          </a:prstGeom>
          <a:solidFill>
            <a:schemeClr val="bg1"/>
          </a:solidFill>
          <a:ln w="15875">
            <a:solidFill>
              <a:schemeClr val="accent4"/>
            </a:solidFill>
          </a:ln>
        </p:spPr>
        <p:txBody>
          <a:bodyPr wrap="square" lIns="25400" tIns="101600" rIns="101600" bIns="25400" rtlCol="0" anchor="ctr"/>
          <a:lstStyle/>
          <a:p>
            <a:pPr algn="ctr" indent="0" marL="0">
              <a:buNone/>
            </a:pPr>
            <a:r>
              <a:rPr lang="en-US" sz="1500" b="1" dirty="0">
                <a:solidFill>
                  <a:schemeClr val="tx1"/>
                </a:solidFill>
              </a:rPr>
              <a:t>LQR hệ số cố định</a:t>
            </a:r>
            <a:endParaRPr lang="en-US" sz="1500" dirty="0"/>
          </a:p>
          <a:p>
            <a:pPr algn="ctr" indent="0" marL="0">
              <a:buNone/>
            </a:pPr>
            <a:r>
              <a:rPr lang="en-US" sz="1300" dirty="0">
                <a:solidFill>
                  <a:schemeClr val="tx2"/>
                </a:solidFill>
              </a:rPr>
              <a:t>đối chứng · K</a:t>
            </a:r>
            <a:pPr algn="ctr" indent="0" marL="0">
              <a:buNone/>
            </a:pPr>
            <a:r>
              <a:rPr lang="en-US" sz="1300" baseline="-40000" dirty="0">
                <a:solidFill>
                  <a:schemeClr val="tx2"/>
                </a:solidFill>
              </a:rPr>
              <a:t>0</a:t>
            </a:r>
            <a:pPr algn="ctr" indent="0" marL="0">
              <a:buNone/>
            </a:pPr>
            <a:r>
              <a:rPr lang="en-US" sz="1300" dirty="0">
                <a:solidFill>
                  <a:schemeClr val="tx2"/>
                </a:solidFill>
              </a:rPr>
              <a:t> không đổi</a:t>
            </a:r>
            <a:endParaRPr lang="en-US" sz="1500" dirty="0"/>
          </a:p>
        </p:txBody>
      </p:sp>
      <p:sp>
        <p:nvSpPr>
          <p:cNvPr id="11" name="adaptive-lqr-53"/>
          <p:cNvSpPr/>
          <p:nvPr/>
        </p:nvSpPr>
        <p:spPr>
          <a:xfrm>
            <a:off x="2798064" y="2999232"/>
            <a:ext cx="2194560" cy="621792"/>
          </a:xfrm>
          <a:prstGeom prst="rect">
            <a:avLst/>
          </a:prstGeom>
          <a:solidFill>
            <a:schemeClr val="bg1"/>
          </a:solidFill>
          <a:ln w="22225">
            <a:solidFill>
              <a:schemeClr val="accent1"/>
            </a:solidFill>
          </a:ln>
        </p:spPr>
        <p:txBody>
          <a:bodyPr wrap="square" lIns="25400" tIns="101600" rIns="101600" bIns="25400" rtlCol="0" anchor="ctr"/>
          <a:lstStyle/>
          <a:p>
            <a:pPr algn="ctr" indent="0" marL="0">
              <a:buNone/>
            </a:pPr>
            <a:r>
              <a:rPr lang="en-US" sz="1500" b="1" dirty="0">
                <a:solidFill>
                  <a:schemeClr val="accent1"/>
                </a:solidFill>
              </a:rPr>
              <a:t>LQR thích nghi</a:t>
            </a:r>
            <a:endParaRPr lang="en-US" sz="1500" dirty="0"/>
          </a:p>
          <a:p>
            <a:pPr algn="ctr" indent="0" marL="0">
              <a:buNone/>
            </a:pPr>
            <a:r>
              <a:rPr lang="en-US" sz="1300" dirty="0">
                <a:solidFill>
                  <a:schemeClr val="tx2"/>
                </a:solidFill>
              </a:rPr>
              <a:t>K(SoH) cập nhật theo SoH</a:t>
            </a:r>
            <a:endParaRPr lang="en-US" sz="1500" dirty="0"/>
          </a:p>
        </p:txBody>
      </p:sp>
      <p:sp>
        <p:nvSpPr>
          <p:cNvPr id="12" name="motor-54"/>
          <p:cNvSpPr/>
          <p:nvPr/>
        </p:nvSpPr>
        <p:spPr>
          <a:xfrm>
            <a:off x="5861304" y="2240280"/>
            <a:ext cx="2240280" cy="420624"/>
          </a:xfrm>
          <a:prstGeom prst="rect">
            <a:avLst/>
          </a:prstGeom>
          <a:solidFill>
            <a:schemeClr val="bg1"/>
          </a:solidFill>
          <a:ln w="15875">
            <a:solidFill>
              <a:schemeClr val="tx1"/>
            </a:solidFill>
          </a:ln>
        </p:spPr>
        <p:txBody>
          <a:bodyPr wrap="square" lIns="25400" tIns="101600" rIns="101600" bIns="25400" rtlCol="0" anchor="ctr"/>
          <a:lstStyle/>
          <a:p>
            <a:pPr algn="ctr" indent="0" marL="0">
              <a:buNone/>
            </a:pPr>
            <a:r>
              <a:rPr lang="en-US" sz="1400" b="1" dirty="0">
                <a:solidFill>
                  <a:schemeClr val="tx1"/>
                </a:solidFill>
              </a:rPr>
              <a:t>Động cơ – truyền động</a:t>
            </a:r>
            <a:endParaRPr lang="en-US" sz="1400" dirty="0"/>
          </a:p>
        </p:txBody>
      </p:sp>
      <p:sp>
        <p:nvSpPr>
          <p:cNvPr id="13" name="vehicle-55"/>
          <p:cNvSpPr/>
          <p:nvPr/>
        </p:nvSpPr>
        <p:spPr>
          <a:xfrm>
            <a:off x="5861304" y="2734056"/>
            <a:ext cx="2240280" cy="420624"/>
          </a:xfrm>
          <a:prstGeom prst="rect">
            <a:avLst/>
          </a:prstGeom>
          <a:solidFill>
            <a:schemeClr val="bg1"/>
          </a:solidFill>
          <a:ln w="15875">
            <a:solidFill>
              <a:schemeClr val="tx1"/>
            </a:solidFill>
          </a:ln>
        </p:spPr>
        <p:txBody>
          <a:bodyPr wrap="square" lIns="25400" tIns="101600" rIns="101600" bIns="25400" rtlCol="0" anchor="ctr"/>
          <a:lstStyle/>
          <a:p>
            <a:pPr algn="ctr" indent="0" marL="0">
              <a:buNone/>
            </a:pPr>
            <a:r>
              <a:rPr lang="en-US" sz="1400" b="1" dirty="0">
                <a:solidFill>
                  <a:schemeClr val="tx1"/>
                </a:solidFill>
              </a:rPr>
              <a:t>Động lực học dọc xe</a:t>
            </a:r>
            <a:endParaRPr lang="en-US" sz="1400" dirty="0"/>
          </a:p>
        </p:txBody>
      </p:sp>
      <p:sp>
        <p:nvSpPr>
          <p:cNvPr id="14" name="battery-56"/>
          <p:cNvSpPr/>
          <p:nvPr/>
        </p:nvSpPr>
        <p:spPr>
          <a:xfrm>
            <a:off x="5861304" y="3227832"/>
            <a:ext cx="2240280" cy="420624"/>
          </a:xfrm>
          <a:prstGeom prst="rect">
            <a:avLst/>
          </a:prstGeom>
          <a:solidFill>
            <a:schemeClr val="bg1"/>
          </a:solidFill>
          <a:ln w="15875">
            <a:solidFill>
              <a:schemeClr val="tx1"/>
            </a:solidFill>
          </a:ln>
        </p:spPr>
        <p:txBody>
          <a:bodyPr wrap="square" lIns="25400" tIns="101600" rIns="101600" bIns="25400" rtlCol="0" anchor="ctr"/>
          <a:lstStyle/>
          <a:p>
            <a:pPr algn="ctr" indent="0" marL="0">
              <a:buNone/>
            </a:pPr>
            <a:r>
              <a:rPr lang="en-US" sz="1400" b="1" dirty="0">
                <a:solidFill>
                  <a:schemeClr val="tx1"/>
                </a:solidFill>
              </a:rPr>
              <a:t>Pin – mạch tương đương</a:t>
            </a:r>
            <a:endParaRPr lang="en-US" sz="1400" dirty="0"/>
          </a:p>
        </p:txBody>
      </p:sp>
      <p:sp>
        <p:nvSpPr>
          <p:cNvPr id="15" name="soh-estimator-57"/>
          <p:cNvSpPr/>
          <p:nvPr/>
        </p:nvSpPr>
        <p:spPr>
          <a:xfrm>
            <a:off x="5861304" y="4206240"/>
            <a:ext cx="2240280" cy="603504"/>
          </a:xfrm>
          <a:prstGeom prst="rect">
            <a:avLst/>
          </a:prstGeom>
          <a:solidFill>
            <a:schemeClr val="bg1"/>
          </a:solidFill>
          <a:ln w="19050">
            <a:solidFill>
              <a:schemeClr val="accent1"/>
            </a:solidFill>
          </a:ln>
        </p:spPr>
        <p:txBody>
          <a:bodyPr wrap="square" lIns="25400" tIns="101600" rIns="101600" bIns="25400" rtlCol="0" anchor="ctr"/>
          <a:lstStyle/>
          <a:p>
            <a:pPr algn="ctr" indent="0" marL="0">
              <a:buNone/>
            </a:pPr>
            <a:r>
              <a:rPr lang="en-US" sz="1500" b="1" dirty="0">
                <a:solidFill>
                  <a:schemeClr val="accent1"/>
                </a:solidFill>
              </a:rPr>
              <a:t>Ước lượng SoH</a:t>
            </a:r>
            <a:endParaRPr lang="en-US" sz="1500" dirty="0"/>
          </a:p>
          <a:p>
            <a:pPr algn="ctr" indent="0" marL="0">
              <a:buNone/>
            </a:pPr>
            <a:r>
              <a:rPr lang="en-US" sz="1300" dirty="0">
                <a:solidFill>
                  <a:schemeClr val="tx2"/>
                </a:solidFill>
              </a:rPr>
              <a:t>EKF từ điện áp, dòng pin</a:t>
            </a:r>
            <a:endParaRPr lang="en-US" sz="1500" dirty="0"/>
          </a:p>
        </p:txBody>
      </p:sp>
      <p:sp>
        <p:nvSpPr>
          <p:cNvPr id="16" name="gain-scheduling-58"/>
          <p:cNvSpPr/>
          <p:nvPr/>
        </p:nvSpPr>
        <p:spPr>
          <a:xfrm>
            <a:off x="2798064" y="4206240"/>
            <a:ext cx="2194560" cy="603504"/>
          </a:xfrm>
          <a:prstGeom prst="rect">
            <a:avLst/>
          </a:prstGeom>
          <a:solidFill>
            <a:schemeClr val="bg1"/>
          </a:solidFill>
          <a:ln w="19050">
            <a:solidFill>
              <a:schemeClr val="accent1"/>
            </a:solidFill>
          </a:ln>
        </p:spPr>
        <p:txBody>
          <a:bodyPr wrap="square" lIns="25400" tIns="101600" rIns="101600" bIns="25400" rtlCol="0" anchor="ctr"/>
          <a:lstStyle/>
          <a:p>
            <a:pPr algn="ctr" indent="0" marL="0">
              <a:buNone/>
            </a:pPr>
            <a:r>
              <a:rPr lang="en-US" sz="1500" b="1" dirty="0">
                <a:solidFill>
                  <a:schemeClr val="accent1"/>
                </a:solidFill>
              </a:rPr>
              <a:t>Lập lịch hệ số</a:t>
            </a:r>
            <a:endParaRPr lang="en-US" sz="1500" dirty="0"/>
          </a:p>
          <a:p>
            <a:pPr algn="ctr" indent="0" marL="0">
              <a:buNone/>
            </a:pPr>
            <a:r>
              <a:rPr lang="en-US" sz="1300" dirty="0">
                <a:solidFill>
                  <a:schemeClr val="tx2"/>
                </a:solidFill>
              </a:rPr>
              <a:t>Q, R(SoH) → DARE → K</a:t>
            </a:r>
            <a:endParaRPr lang="en-US" sz="1500" dirty="0"/>
          </a:p>
        </p:txBody>
      </p:sp>
      <p:sp>
        <p:nvSpPr>
          <p:cNvPr id="17" name="metric-performance-59"/>
          <p:cNvSpPr/>
          <p:nvPr/>
        </p:nvSpPr>
        <p:spPr>
          <a:xfrm>
            <a:off x="9061704" y="2240280"/>
            <a:ext cx="2578608" cy="896112"/>
          </a:xfrm>
          <a:prstGeom prst="rect">
            <a:avLst/>
          </a:prstGeom>
          <a:solidFill>
            <a:schemeClr val="bg1"/>
          </a:solidFill>
          <a:ln w="15875">
            <a:solidFill>
              <a:schemeClr val="tx1"/>
            </a:solidFill>
          </a:ln>
        </p:spPr>
        <p:txBody>
          <a:bodyPr wrap="square" lIns="25400" tIns="152400" rIns="152400" bIns="25400" rtlCol="0" anchor="ctr"/>
          <a:lstStyle/>
          <a:p>
            <a:pPr algn="l" indent="0" marL="0">
              <a:buNone/>
            </a:pPr>
            <a:r>
              <a:rPr lang="en-US" sz="1500" b="1" dirty="0">
                <a:solidFill>
                  <a:schemeClr val="tx1"/>
                </a:solidFill>
              </a:rPr>
              <a:t>Hiệu năng xe – điều khiển</a:t>
            </a:r>
            <a:endParaRPr lang="en-US" sz="1500" dirty="0"/>
          </a:p>
          <a:p>
            <a:pPr algn="l" indent="0" marL="0">
              <a:buNone/>
            </a:pPr>
            <a:r>
              <a:rPr lang="en-US" sz="1300" dirty="0">
                <a:solidFill>
                  <a:schemeClr val="tx2"/>
                </a:solidFill>
              </a:rPr>
              <a:t>RMSE bám tốc độ · Wh/km · ràng buộc vận hành</a:t>
            </a:r>
            <a:endParaRPr lang="en-US" sz="1500" dirty="0"/>
          </a:p>
        </p:txBody>
      </p:sp>
      <p:sp>
        <p:nvSpPr>
          <p:cNvPr id="18" name="metric-aging-60"/>
          <p:cNvSpPr/>
          <p:nvPr/>
        </p:nvSpPr>
        <p:spPr>
          <a:xfrm>
            <a:off x="9061704" y="3246120"/>
            <a:ext cx="2578608" cy="896112"/>
          </a:xfrm>
          <a:prstGeom prst="rect">
            <a:avLst/>
          </a:prstGeom>
          <a:solidFill>
            <a:schemeClr val="bg1"/>
          </a:solidFill>
          <a:ln w="15875">
            <a:solidFill>
              <a:schemeClr val="accent2"/>
            </a:solidFill>
          </a:ln>
        </p:spPr>
        <p:txBody>
          <a:bodyPr wrap="square" lIns="25400" tIns="152400" rIns="152400" bIns="25400" rtlCol="0" anchor="ctr"/>
          <a:lstStyle/>
          <a:p>
            <a:pPr algn="l" indent="0" marL="0">
              <a:buNone/>
            </a:pPr>
            <a:r>
              <a:rPr lang="en-US" sz="1500" b="1" dirty="0">
                <a:solidFill>
                  <a:schemeClr val="accent2"/>
                </a:solidFill>
              </a:rPr>
              <a:t>Lão hóa pin</a:t>
            </a:r>
            <a:endParaRPr lang="en-US" sz="1500" dirty="0"/>
          </a:p>
          <a:p>
            <a:pPr algn="l" indent="0" marL="0">
              <a:buNone/>
            </a:pPr>
            <a:r>
              <a:rPr lang="en-US" sz="1300" dirty="0">
                <a:solidFill>
                  <a:schemeClr val="tx2"/>
                </a:solidFill>
              </a:rPr>
              <a:t>suy giảm dung lượng từ mô hình lão hóa, theo số chu kỳ</a:t>
            </a:r>
            <a:endParaRPr lang="en-US" sz="1500" dirty="0"/>
          </a:p>
        </p:txBody>
      </p:sp>
      <p:sp>
        <p:nvSpPr>
          <p:cNvPr id="19" name="nsga2-61"/>
          <p:cNvSpPr/>
          <p:nvPr/>
        </p:nvSpPr>
        <p:spPr>
          <a:xfrm>
            <a:off x="5760720" y="5212080"/>
            <a:ext cx="2514600" cy="786384"/>
          </a:xfrm>
          <a:prstGeom prst="rect">
            <a:avLst/>
          </a:prstGeom>
          <a:solidFill>
            <a:schemeClr val="bg1"/>
          </a:solidFill>
          <a:ln w="19050">
            <a:solidFill>
              <a:schemeClr val="accent2"/>
            </a:solidFill>
            <a:prstDash val="dash"/>
          </a:ln>
        </p:spPr>
        <p:txBody>
          <a:bodyPr wrap="square" lIns="25400" tIns="101600" rIns="101600" bIns="25400" rtlCol="0" anchor="ctr"/>
          <a:lstStyle/>
          <a:p>
            <a:pPr algn="ctr" indent="0" marL="0">
              <a:buNone/>
            </a:pPr>
            <a:r>
              <a:rPr lang="en-US" sz="1600" b="1" dirty="0">
                <a:solidFill>
                  <a:schemeClr val="accent2"/>
                </a:solidFill>
              </a:rPr>
              <a:t>NSGA-II</a:t>
            </a:r>
            <a:endParaRPr lang="en-US" sz="1600" dirty="0"/>
          </a:p>
          <a:p>
            <a:pPr algn="ctr" indent="0" marL="0">
              <a:buNone/>
            </a:pPr>
            <a:r>
              <a:rPr lang="en-US" sz="1300" dirty="0">
                <a:solidFill>
                  <a:schemeClr val="tx2"/>
                </a:solidFill>
              </a:rPr>
              <a:t>tối ưu đa mục tiêu</a:t>
            </a:r>
            <a:endParaRPr lang="en-US" sz="1600" dirty="0"/>
          </a:p>
          <a:p>
            <a:pPr algn="ctr" indent="0" marL="0">
              <a:buNone/>
            </a:pPr>
            <a:r>
              <a:rPr lang="en-US" sz="1300" dirty="0">
                <a:solidFill>
                  <a:schemeClr val="tx2"/>
                </a:solidFill>
              </a:rPr>
              <a:t>ngoại tuyến</a:t>
            </a:r>
            <a:endParaRPr lang="en-US" sz="1600" dirty="0"/>
          </a:p>
        </p:txBody>
      </p:sp>
      <p:sp>
        <p:nvSpPr>
          <p:cNvPr id="20" name="sum-junction-62"/>
          <p:cNvSpPr/>
          <p:nvPr/>
        </p:nvSpPr>
        <p:spPr>
          <a:xfrm>
            <a:off x="2020824" y="2706624"/>
            <a:ext cx="347472" cy="347472"/>
          </a:xfrm>
          <a:prstGeom prst="ellipse">
            <a:avLst/>
          </a:prstGeom>
          <a:solidFill>
            <a:schemeClr val="bg1"/>
          </a:solidFill>
          <a:ln w="19050">
            <a:solidFill>
              <a:schemeClr val="tx1"/>
            </a:solidFill>
            <a:prstDash val="solid"/>
          </a:ln>
        </p:spPr>
      </p:sp>
      <p:sp>
        <p:nvSpPr>
          <p:cNvPr id="21" name="sum-h-63"/>
          <p:cNvSpPr/>
          <p:nvPr/>
        </p:nvSpPr>
        <p:spPr>
          <a:xfrm>
            <a:off x="2075688" y="2880360"/>
            <a:ext cx="237744" cy="0"/>
          </a:xfrm>
          <a:prstGeom prst="line">
            <a:avLst/>
          </a:prstGeom>
          <a:noFill/>
          <a:ln w="12700">
            <a:solidFill>
              <a:schemeClr val="tx1"/>
            </a:solidFill>
            <a:prstDash val="solid"/>
          </a:ln>
        </p:spPr>
      </p:sp>
      <p:sp>
        <p:nvSpPr>
          <p:cNvPr id="22" name="sum-v-64"/>
          <p:cNvSpPr/>
          <p:nvPr/>
        </p:nvSpPr>
        <p:spPr>
          <a:xfrm>
            <a:off x="2194560" y="2761488"/>
            <a:ext cx="0" cy="237744"/>
          </a:xfrm>
          <a:prstGeom prst="line">
            <a:avLst/>
          </a:prstGeom>
          <a:noFill/>
          <a:ln w="12700">
            <a:solidFill>
              <a:schemeClr val="tx1"/>
            </a:solidFill>
            <a:prstDash val="solid"/>
          </a:ln>
        </p:spPr>
      </p:sp>
      <p:sp>
        <p:nvSpPr>
          <p:cNvPr id="23" name="sum-plus-65"/>
          <p:cNvSpPr txBox="1"/>
          <p:nvPr/>
        </p:nvSpPr>
        <p:spPr>
          <a:xfrm>
            <a:off x="1810512" y="2560320"/>
            <a:ext cx="182880" cy="228600"/>
          </a:xfrm>
          <a:prstGeom prst="rect">
            <a:avLst/>
          </a:prstGeom>
          <a:noFill/>
          <a:ln/>
        </p:spPr>
        <p:txBody>
          <a:bodyPr wrap="square" lIns="0" tIns="0" rIns="0" bIns="0" rtlCol="0" anchor="t"/>
          <a:lstStyle/>
          <a:p>
            <a:pPr indent="0" marL="0">
              <a:buNone/>
            </a:pPr>
            <a:r>
              <a:rPr lang="en-US" sz="1400" b="1" dirty="0">
                <a:solidFill>
                  <a:schemeClr val="tx1"/>
                </a:solidFill>
              </a:rPr>
              <a:t>+</a:t>
            </a:r>
            <a:endParaRPr lang="en-US" sz="1400" dirty="0"/>
          </a:p>
        </p:txBody>
      </p:sp>
      <p:sp>
        <p:nvSpPr>
          <p:cNvPr id="24" name="sum-minus-66"/>
          <p:cNvSpPr txBox="1"/>
          <p:nvPr/>
        </p:nvSpPr>
        <p:spPr>
          <a:xfrm>
            <a:off x="1938528" y="2359152"/>
            <a:ext cx="182880" cy="228600"/>
          </a:xfrm>
          <a:prstGeom prst="rect">
            <a:avLst/>
          </a:prstGeom>
          <a:noFill/>
          <a:ln/>
        </p:spPr>
        <p:txBody>
          <a:bodyPr wrap="square" lIns="0" tIns="0" rIns="0" bIns="0" rtlCol="0" anchor="t"/>
          <a:lstStyle/>
          <a:p>
            <a:pPr indent="0" marL="0">
              <a:buNone/>
            </a:pPr>
            <a:r>
              <a:rPr lang="en-US" sz="1400" b="1" dirty="0">
                <a:solidFill>
                  <a:schemeClr val="tx1"/>
                </a:solidFill>
              </a:rPr>
              <a:t>−</a:t>
            </a:r>
            <a:endParaRPr lang="en-US" sz="1400" dirty="0"/>
          </a:p>
        </p:txBody>
      </p:sp>
      <p:sp>
        <p:nvSpPr>
          <p:cNvPr id="25" name="ref-to-sum-67"/>
          <p:cNvSpPr/>
          <p:nvPr/>
        </p:nvSpPr>
        <p:spPr>
          <a:xfrm>
            <a:off x="1755648" y="2880360"/>
            <a:ext cx="265176" cy="0"/>
          </a:xfrm>
          <a:prstGeom prst="line">
            <a:avLst/>
          </a:prstGeom>
          <a:noFill/>
          <a:ln w="19050">
            <a:solidFill>
              <a:schemeClr val="tx1"/>
            </a:solidFill>
            <a:prstDash val="solid"/>
            <a:tailEnd type="triangle"/>
          </a:ln>
        </p:spPr>
      </p:sp>
      <p:sp>
        <p:nvSpPr>
          <p:cNvPr id="26" name="error-to-ctrl-68"/>
          <p:cNvSpPr/>
          <p:nvPr/>
        </p:nvSpPr>
        <p:spPr>
          <a:xfrm>
            <a:off x="2368296" y="2880360"/>
            <a:ext cx="292608" cy="0"/>
          </a:xfrm>
          <a:prstGeom prst="line">
            <a:avLst/>
          </a:prstGeom>
          <a:noFill/>
          <a:ln w="19050">
            <a:solidFill>
              <a:schemeClr val="tx1"/>
            </a:solidFill>
            <a:prstDash val="solid"/>
            <a:tailEnd type="triangle"/>
          </a:ln>
        </p:spPr>
      </p:sp>
      <p:sp>
        <p:nvSpPr>
          <p:cNvPr id="27" name="error-label-69"/>
          <p:cNvSpPr txBox="1"/>
          <p:nvPr/>
        </p:nvSpPr>
        <p:spPr>
          <a:xfrm>
            <a:off x="2441448" y="2606040"/>
            <a:ext cx="182880" cy="228600"/>
          </a:xfrm>
          <a:prstGeom prst="rect">
            <a:avLst/>
          </a:prstGeom>
          <a:noFill/>
          <a:ln/>
        </p:spPr>
        <p:txBody>
          <a:bodyPr wrap="square" lIns="0" tIns="0" rIns="0" bIns="0" rtlCol="0" anchor="t"/>
          <a:lstStyle/>
          <a:p>
            <a:pPr indent="0" marL="0">
              <a:buNone/>
            </a:pPr>
            <a:r>
              <a:rPr lang="en-US" sz="1400" dirty="0">
                <a:solidFill>
                  <a:schemeClr val="tx1"/>
                </a:solidFill>
              </a:rPr>
              <a:t>e</a:t>
            </a:r>
            <a:endParaRPr lang="en-US" sz="1400" dirty="0"/>
          </a:p>
        </p:txBody>
      </p:sp>
      <p:sp>
        <p:nvSpPr>
          <p:cNvPr id="28" name="torque-cmd-70"/>
          <p:cNvSpPr/>
          <p:nvPr/>
        </p:nvSpPr>
        <p:spPr>
          <a:xfrm>
            <a:off x="5129784" y="2450592"/>
            <a:ext cx="731520" cy="0"/>
          </a:xfrm>
          <a:prstGeom prst="line">
            <a:avLst/>
          </a:prstGeom>
          <a:noFill/>
          <a:ln w="19050">
            <a:solidFill>
              <a:schemeClr val="tx1"/>
            </a:solidFill>
            <a:prstDash val="solid"/>
            <a:tailEnd type="triangle"/>
          </a:ln>
        </p:spPr>
      </p:sp>
      <p:sp>
        <p:nvSpPr>
          <p:cNvPr id="29" name="torque-label-71"/>
          <p:cNvSpPr txBox="1"/>
          <p:nvPr/>
        </p:nvSpPr>
        <p:spPr>
          <a:xfrm>
            <a:off x="5230368" y="2157984"/>
            <a:ext cx="457200" cy="228600"/>
          </a:xfrm>
          <a:prstGeom prst="rect">
            <a:avLst/>
          </a:prstGeom>
          <a:noFill/>
          <a:ln/>
        </p:spPr>
        <p:txBody>
          <a:bodyPr wrap="square" lIns="0" tIns="0" rIns="0" bIns="0" rtlCol="0" anchor="t"/>
          <a:lstStyle/>
          <a:p>
            <a:pPr indent="0" marL="0">
              <a:buNone/>
            </a:pPr>
            <a:r>
              <a:rPr lang="en-US" sz="1300" dirty="0">
                <a:solidFill>
                  <a:schemeClr val="tx1"/>
                </a:solidFill>
              </a:rPr>
              <a:t>T</a:t>
            </a:r>
            <a:pPr indent="0" marL="0">
              <a:buNone/>
            </a:pPr>
            <a:r>
              <a:rPr lang="en-US" sz="1300" baseline="-40000" dirty="0">
                <a:solidFill>
                  <a:schemeClr val="tx1"/>
                </a:solidFill>
              </a:rPr>
              <a:t>ref</a:t>
            </a:r>
            <a:endParaRPr lang="en-US" sz="1300" dirty="0"/>
          </a:p>
        </p:txBody>
      </p:sp>
      <p:sp>
        <p:nvSpPr>
          <p:cNvPr id="30" name="speed-out-72"/>
          <p:cNvSpPr/>
          <p:nvPr/>
        </p:nvSpPr>
        <p:spPr>
          <a:xfrm>
            <a:off x="8101584" y="2944368"/>
            <a:ext cx="539496" cy="0"/>
          </a:xfrm>
          <a:prstGeom prst="line">
            <a:avLst/>
          </a:prstGeom>
          <a:noFill/>
          <a:ln w="19050">
            <a:solidFill>
              <a:schemeClr val="tx1"/>
            </a:solidFill>
            <a:prstDash val="solid"/>
          </a:ln>
        </p:spPr>
      </p:sp>
      <p:sp>
        <p:nvSpPr>
          <p:cNvPr id="31" name="speed-junction-73"/>
          <p:cNvSpPr/>
          <p:nvPr/>
        </p:nvSpPr>
        <p:spPr>
          <a:xfrm>
            <a:off x="8595360" y="2898648"/>
            <a:ext cx="91440" cy="91440"/>
          </a:xfrm>
          <a:prstGeom prst="ellipse">
            <a:avLst/>
          </a:prstGeom>
          <a:solidFill>
            <a:schemeClr val="tx1"/>
          </a:solidFill>
          <a:ln w="6350">
            <a:solidFill>
              <a:schemeClr val="tx1"/>
            </a:solidFill>
            <a:prstDash val="solid"/>
          </a:ln>
        </p:spPr>
      </p:sp>
      <p:sp>
        <p:nvSpPr>
          <p:cNvPr id="32" name="speed-feedback-74"/>
          <p:cNvSpPr/>
          <p:nvPr/>
        </p:nvSpPr>
        <p:spPr>
          <a:xfrm flipV="1">
            <a:off x="8641080" y="1572768"/>
            <a:ext cx="0" cy="1371600"/>
          </a:xfrm>
          <a:prstGeom prst="line">
            <a:avLst/>
          </a:prstGeom>
          <a:noFill/>
          <a:ln w="19050">
            <a:solidFill>
              <a:schemeClr val="tx1"/>
            </a:solidFill>
            <a:prstDash val="solid"/>
          </a:ln>
        </p:spPr>
      </p:sp>
      <p:sp>
        <p:nvSpPr>
          <p:cNvPr id="33" name="speed-feedback-75"/>
          <p:cNvSpPr/>
          <p:nvPr/>
        </p:nvSpPr>
        <p:spPr>
          <a:xfrm flipH="1">
            <a:off x="2194560" y="1572768"/>
            <a:ext cx="6446520" cy="0"/>
          </a:xfrm>
          <a:prstGeom prst="line">
            <a:avLst/>
          </a:prstGeom>
          <a:noFill/>
          <a:ln w="19050">
            <a:solidFill>
              <a:schemeClr val="tx1"/>
            </a:solidFill>
            <a:prstDash val="solid"/>
          </a:ln>
        </p:spPr>
      </p:sp>
      <p:sp>
        <p:nvSpPr>
          <p:cNvPr id="34" name="speed-feedback-76"/>
          <p:cNvSpPr/>
          <p:nvPr/>
        </p:nvSpPr>
        <p:spPr>
          <a:xfrm>
            <a:off x="2194560" y="1572768"/>
            <a:ext cx="0" cy="1133856"/>
          </a:xfrm>
          <a:prstGeom prst="line">
            <a:avLst/>
          </a:prstGeom>
          <a:noFill/>
          <a:ln w="19050">
            <a:solidFill>
              <a:schemeClr val="tx1"/>
            </a:solidFill>
            <a:prstDash val="solid"/>
            <a:tailEnd type="triangle"/>
          </a:ln>
        </p:spPr>
      </p:sp>
      <p:sp>
        <p:nvSpPr>
          <p:cNvPr id="35" name="speed-feedback-label-77"/>
          <p:cNvSpPr txBox="1"/>
          <p:nvPr/>
        </p:nvSpPr>
        <p:spPr>
          <a:xfrm>
            <a:off x="4572000" y="1298448"/>
            <a:ext cx="1280160" cy="228600"/>
          </a:xfrm>
          <a:prstGeom prst="rect">
            <a:avLst/>
          </a:prstGeom>
          <a:noFill/>
          <a:ln/>
        </p:spPr>
        <p:txBody>
          <a:bodyPr wrap="square" lIns="0" tIns="0" rIns="0" bIns="0" rtlCol="0" anchor="t"/>
          <a:lstStyle/>
          <a:p>
            <a:pPr algn="ctr" indent="0" marL="0">
              <a:buNone/>
            </a:pPr>
            <a:r>
              <a:rPr lang="en-US" sz="1300" dirty="0">
                <a:solidFill>
                  <a:schemeClr val="tx1"/>
                </a:solidFill>
              </a:rPr>
              <a:t>v đo được</a:t>
            </a:r>
            <a:endParaRPr lang="en-US" sz="1300" dirty="0"/>
          </a:p>
        </p:txBody>
      </p:sp>
      <p:sp>
        <p:nvSpPr>
          <p:cNvPr id="36" name="speed-to-metrics-78"/>
          <p:cNvSpPr/>
          <p:nvPr/>
        </p:nvSpPr>
        <p:spPr>
          <a:xfrm>
            <a:off x="8641080" y="2944368"/>
            <a:ext cx="420624" cy="0"/>
          </a:xfrm>
          <a:prstGeom prst="line">
            <a:avLst/>
          </a:prstGeom>
          <a:noFill/>
          <a:ln w="19050">
            <a:solidFill>
              <a:schemeClr val="tx1"/>
            </a:solidFill>
            <a:prstDash val="solid"/>
            <a:tailEnd type="triangle"/>
          </a:ln>
        </p:spPr>
      </p:sp>
      <p:sp>
        <p:nvSpPr>
          <p:cNvPr id="37" name="battery-to-aging-79"/>
          <p:cNvSpPr/>
          <p:nvPr/>
        </p:nvSpPr>
        <p:spPr>
          <a:xfrm>
            <a:off x="8101584" y="3438144"/>
            <a:ext cx="960120" cy="0"/>
          </a:xfrm>
          <a:prstGeom prst="line">
            <a:avLst/>
          </a:prstGeom>
          <a:noFill/>
          <a:ln w="15875">
            <a:solidFill>
              <a:schemeClr val="accent4"/>
            </a:solidFill>
            <a:prstDash val="solid"/>
            <a:tailEnd type="triangle"/>
          </a:ln>
        </p:spPr>
      </p:sp>
      <p:sp>
        <p:nvSpPr>
          <p:cNvPr id="38" name="battery-signal-label-80"/>
          <p:cNvSpPr txBox="1"/>
          <p:nvPr/>
        </p:nvSpPr>
        <p:spPr>
          <a:xfrm>
            <a:off x="8275320" y="3474720"/>
            <a:ext cx="777240" cy="228600"/>
          </a:xfrm>
          <a:prstGeom prst="rect">
            <a:avLst/>
          </a:prstGeom>
          <a:noFill/>
          <a:ln/>
        </p:spPr>
        <p:txBody>
          <a:bodyPr wrap="square" lIns="0" tIns="0" rIns="0" bIns="0" rtlCol="0" anchor="t"/>
          <a:lstStyle/>
          <a:p>
            <a:pPr indent="0" marL="0">
              <a:buNone/>
            </a:pPr>
            <a:r>
              <a:rPr lang="en-US" sz="1100" dirty="0">
                <a:solidFill>
                  <a:schemeClr val="tx2"/>
                </a:solidFill>
              </a:rPr>
              <a:t>I(t), SoC(t)</a:t>
            </a:r>
            <a:endParaRPr lang="en-US" sz="1100" dirty="0"/>
          </a:p>
        </p:txBody>
      </p:sp>
      <p:sp>
        <p:nvSpPr>
          <p:cNvPr id="39" name="battery-to-ekf-81"/>
          <p:cNvSpPr/>
          <p:nvPr/>
        </p:nvSpPr>
        <p:spPr>
          <a:xfrm>
            <a:off x="6400800" y="3648456"/>
            <a:ext cx="0" cy="557784"/>
          </a:xfrm>
          <a:prstGeom prst="line">
            <a:avLst/>
          </a:prstGeom>
          <a:noFill/>
          <a:ln w="15875">
            <a:solidFill>
              <a:schemeClr val="accent4"/>
            </a:solidFill>
            <a:prstDash val="solid"/>
            <a:tailEnd type="triangle"/>
          </a:ln>
        </p:spPr>
      </p:sp>
      <p:sp>
        <p:nvSpPr>
          <p:cNvPr id="40" name="battery-vi-label-82"/>
          <p:cNvSpPr txBox="1"/>
          <p:nvPr/>
        </p:nvSpPr>
        <p:spPr>
          <a:xfrm>
            <a:off x="6492240" y="3877056"/>
            <a:ext cx="822960" cy="228600"/>
          </a:xfrm>
          <a:prstGeom prst="rect">
            <a:avLst/>
          </a:prstGeom>
          <a:noFill/>
          <a:ln/>
        </p:spPr>
        <p:txBody>
          <a:bodyPr wrap="square" lIns="0" tIns="0" rIns="0" bIns="0" rtlCol="0" anchor="t"/>
          <a:lstStyle/>
          <a:p>
            <a:pPr indent="0" marL="0">
              <a:buNone/>
            </a:pPr>
            <a:r>
              <a:rPr lang="en-US" sz="1200" dirty="0">
                <a:solidFill>
                  <a:schemeClr val="tx2"/>
                </a:solidFill>
              </a:rPr>
              <a:t>V, I pin</a:t>
            </a:r>
            <a:endParaRPr lang="en-US" sz="1200" dirty="0"/>
          </a:p>
        </p:txBody>
      </p:sp>
      <p:sp>
        <p:nvSpPr>
          <p:cNvPr id="41" name="soh-to-scheduling-83"/>
          <p:cNvSpPr/>
          <p:nvPr/>
        </p:nvSpPr>
        <p:spPr>
          <a:xfrm flipH="1">
            <a:off x="4992624" y="4507992"/>
            <a:ext cx="868680" cy="0"/>
          </a:xfrm>
          <a:prstGeom prst="line">
            <a:avLst/>
          </a:prstGeom>
          <a:noFill/>
          <a:ln w="22225">
            <a:solidFill>
              <a:schemeClr val="accent1"/>
            </a:solidFill>
            <a:prstDash val="solid"/>
            <a:tailEnd type="triangle"/>
          </a:ln>
        </p:spPr>
      </p:sp>
      <p:sp>
        <p:nvSpPr>
          <p:cNvPr id="42" name="soh-label-84"/>
          <p:cNvSpPr txBox="1"/>
          <p:nvPr/>
        </p:nvSpPr>
        <p:spPr>
          <a:xfrm>
            <a:off x="5120640" y="4233672"/>
            <a:ext cx="603504" cy="228600"/>
          </a:xfrm>
          <a:prstGeom prst="rect">
            <a:avLst/>
          </a:prstGeom>
          <a:noFill/>
          <a:ln/>
        </p:spPr>
        <p:txBody>
          <a:bodyPr wrap="square" lIns="0" tIns="0" rIns="0" bIns="0" rtlCol="0" anchor="t"/>
          <a:lstStyle/>
          <a:p>
            <a:pPr algn="ctr" indent="0" marL="0">
              <a:buNone/>
            </a:pPr>
            <a:r>
              <a:rPr lang="en-US" sz="1200" b="1" dirty="0">
                <a:solidFill>
                  <a:schemeClr val="accent1"/>
                </a:solidFill>
              </a:rPr>
              <a:t>SoH</a:t>
            </a:r>
            <a:endParaRPr lang="en-US" sz="1200" dirty="0"/>
          </a:p>
        </p:txBody>
      </p:sp>
      <p:sp>
        <p:nvSpPr>
          <p:cNvPr id="43" name="scheduling-to-adaptive-85"/>
          <p:cNvSpPr/>
          <p:nvPr/>
        </p:nvSpPr>
        <p:spPr>
          <a:xfrm flipV="1">
            <a:off x="3429000" y="3621024"/>
            <a:ext cx="0" cy="585216"/>
          </a:xfrm>
          <a:prstGeom prst="line">
            <a:avLst/>
          </a:prstGeom>
          <a:noFill/>
          <a:ln w="22225">
            <a:solidFill>
              <a:schemeClr val="accent1"/>
            </a:solidFill>
            <a:prstDash val="solid"/>
            <a:tailEnd type="triangle"/>
          </a:ln>
        </p:spPr>
      </p:sp>
      <p:sp>
        <p:nvSpPr>
          <p:cNvPr id="44" name="objectives-to-nsga-86"/>
          <p:cNvSpPr/>
          <p:nvPr/>
        </p:nvSpPr>
        <p:spPr>
          <a:xfrm>
            <a:off x="10351008" y="4142232"/>
            <a:ext cx="0" cy="1453896"/>
          </a:xfrm>
          <a:prstGeom prst="line">
            <a:avLst/>
          </a:prstGeom>
          <a:noFill/>
          <a:ln w="19050">
            <a:solidFill>
              <a:schemeClr val="accent2"/>
            </a:solidFill>
            <a:prstDash val="dash"/>
          </a:ln>
        </p:spPr>
      </p:sp>
      <p:sp>
        <p:nvSpPr>
          <p:cNvPr id="45" name="objectives-to-nsga-87"/>
          <p:cNvSpPr/>
          <p:nvPr/>
        </p:nvSpPr>
        <p:spPr>
          <a:xfrm flipH="1">
            <a:off x="8275320" y="5596128"/>
            <a:ext cx="2075688" cy="0"/>
          </a:xfrm>
          <a:prstGeom prst="line">
            <a:avLst/>
          </a:prstGeom>
          <a:noFill/>
          <a:ln w="19050">
            <a:solidFill>
              <a:schemeClr val="accent2"/>
            </a:solidFill>
            <a:prstDash val="dash"/>
            <a:tailEnd type="triangle"/>
          </a:ln>
        </p:spPr>
      </p:sp>
      <p:sp>
        <p:nvSpPr>
          <p:cNvPr id="46" name="objectives-label-88"/>
          <p:cNvSpPr txBox="1"/>
          <p:nvPr/>
        </p:nvSpPr>
        <p:spPr>
          <a:xfrm>
            <a:off x="8412480" y="5120640"/>
            <a:ext cx="1874520" cy="411480"/>
          </a:xfrm>
          <a:prstGeom prst="rect">
            <a:avLst/>
          </a:prstGeom>
          <a:noFill/>
          <a:ln/>
        </p:spPr>
        <p:txBody>
          <a:bodyPr wrap="square" lIns="0" tIns="0" rIns="0" bIns="0" rtlCol="0" anchor="t"/>
          <a:lstStyle/>
          <a:p>
            <a:pPr indent="0" marL="0">
              <a:buNone/>
            </a:pPr>
            <a:r>
              <a:rPr lang="en-US" sz="1200" dirty="0">
                <a:solidFill>
                  <a:schemeClr val="accent2"/>
                </a:solidFill>
              </a:rPr>
              <a:t>J</a:t>
            </a:r>
            <a:pPr indent="0" marL="0">
              <a:buNone/>
            </a:pPr>
            <a:r>
              <a:rPr lang="en-US" sz="1200" baseline="-40000" dirty="0">
                <a:solidFill>
                  <a:schemeClr val="accent2"/>
                </a:solidFill>
              </a:rPr>
              <a:t>1</a:t>
            </a:r>
            <a:pPr indent="0" marL="0">
              <a:buNone/>
            </a:pPr>
            <a:r>
              <a:rPr lang="en-US" sz="1200" dirty="0">
                <a:solidFill>
                  <a:schemeClr val="accent2"/>
                </a:solidFill>
              </a:rPr>
              <a:t>: Wh/km</a:t>
            </a:r>
            <a:endParaRPr lang="en-US" sz="1600" dirty="0"/>
          </a:p>
          <a:p>
            <a:pPr indent="0" marL="0">
              <a:buNone/>
            </a:pPr>
            <a:r>
              <a:rPr lang="en-US" sz="1200" dirty="0">
                <a:solidFill>
                  <a:schemeClr val="accent2"/>
                </a:solidFill>
              </a:rPr>
              <a:t>J</a:t>
            </a:r>
            <a:pPr indent="0" marL="0">
              <a:buNone/>
            </a:pPr>
            <a:r>
              <a:rPr lang="en-US" sz="1200" baseline="-40000" dirty="0">
                <a:solidFill>
                  <a:schemeClr val="accent2"/>
                </a:solidFill>
              </a:rPr>
              <a:t>2</a:t>
            </a:r>
            <a:pPr indent="0" marL="0">
              <a:buNone/>
            </a:pPr>
            <a:r>
              <a:rPr lang="en-US" sz="1200" dirty="0">
                <a:solidFill>
                  <a:schemeClr val="accent2"/>
                </a:solidFill>
              </a:rPr>
              <a:t>: suy giảm dung lượng</a:t>
            </a:r>
            <a:endParaRPr lang="en-US" sz="1600" dirty="0"/>
          </a:p>
        </p:txBody>
      </p:sp>
      <p:sp>
        <p:nvSpPr>
          <p:cNvPr id="47" name="nsga-to-weights-89"/>
          <p:cNvSpPr/>
          <p:nvPr/>
        </p:nvSpPr>
        <p:spPr>
          <a:xfrm flipH="1">
            <a:off x="3429000" y="5596128"/>
            <a:ext cx="2331720" cy="0"/>
          </a:xfrm>
          <a:prstGeom prst="line">
            <a:avLst/>
          </a:prstGeom>
          <a:noFill/>
          <a:ln w="19050">
            <a:solidFill>
              <a:schemeClr val="accent2"/>
            </a:solidFill>
            <a:prstDash val="dash"/>
          </a:ln>
        </p:spPr>
      </p:sp>
      <p:sp>
        <p:nvSpPr>
          <p:cNvPr id="48" name="nsga-to-weights-90"/>
          <p:cNvSpPr/>
          <p:nvPr/>
        </p:nvSpPr>
        <p:spPr>
          <a:xfrm flipV="1">
            <a:off x="3429000" y="4809744"/>
            <a:ext cx="0" cy="786384"/>
          </a:xfrm>
          <a:prstGeom prst="line">
            <a:avLst/>
          </a:prstGeom>
          <a:noFill/>
          <a:ln w="19050">
            <a:solidFill>
              <a:schemeClr val="accent2"/>
            </a:solidFill>
            <a:prstDash val="dash"/>
            <a:tailEnd type="triangle"/>
          </a:ln>
        </p:spPr>
      </p:sp>
      <p:sp>
        <p:nvSpPr>
          <p:cNvPr id="49" name="weights-label-91"/>
          <p:cNvSpPr txBox="1"/>
          <p:nvPr/>
        </p:nvSpPr>
        <p:spPr>
          <a:xfrm>
            <a:off x="3547872" y="5303520"/>
            <a:ext cx="2148840" cy="228600"/>
          </a:xfrm>
          <a:prstGeom prst="rect">
            <a:avLst/>
          </a:prstGeom>
          <a:noFill/>
          <a:ln/>
        </p:spPr>
        <p:txBody>
          <a:bodyPr wrap="square" lIns="0" tIns="0" rIns="0" bIns="0" rtlCol="0" anchor="t"/>
          <a:lstStyle/>
          <a:p>
            <a:pPr indent="0" marL="0">
              <a:buNone/>
            </a:pPr>
            <a:r>
              <a:rPr lang="en-US" sz="1200" dirty="0">
                <a:solidFill>
                  <a:schemeClr val="accent2"/>
                </a:solidFill>
              </a:rPr>
              <a:t>bộ trọng số Q, R ứng viên</a:t>
            </a:r>
            <a:endParaRPr lang="en-US" sz="1200" dirty="0"/>
          </a:p>
        </p:txBody>
      </p:sp>
      <p:sp>
        <p:nvSpPr>
          <p:cNvPr id="50" name="constraints-label-92"/>
          <p:cNvSpPr txBox="1"/>
          <p:nvPr/>
        </p:nvSpPr>
        <p:spPr>
          <a:xfrm>
            <a:off x="3547872" y="5669280"/>
            <a:ext cx="2148840" cy="228600"/>
          </a:xfrm>
          <a:prstGeom prst="rect">
            <a:avLst/>
          </a:prstGeom>
          <a:noFill/>
          <a:ln/>
        </p:spPr>
        <p:txBody>
          <a:bodyPr wrap="square" lIns="0" tIns="0" rIns="0" bIns="0" rtlCol="0" anchor="t"/>
          <a:lstStyle/>
          <a:p>
            <a:pPr indent="0" marL="0">
              <a:buNone/>
            </a:pPr>
            <a:r>
              <a:rPr lang="en-US" sz="1100" dirty="0">
                <a:solidFill>
                  <a:schemeClr val="tx2"/>
                </a:solidFill>
              </a:rPr>
              <a:t>ràng buộc: ổn định · bám tốc độ</a:t>
            </a:r>
            <a:endParaRPr lang="en-US" sz="1100" dirty="0"/>
          </a:p>
        </p:txBody>
      </p:sp>
      <p:sp>
        <p:nvSpPr>
          <p:cNvPr id="51" name="legend-line-93"/>
          <p:cNvSpPr/>
          <p:nvPr/>
        </p:nvSpPr>
        <p:spPr>
          <a:xfrm>
            <a:off x="548640" y="5248656"/>
            <a:ext cx="365760" cy="0"/>
          </a:xfrm>
          <a:prstGeom prst="line">
            <a:avLst/>
          </a:prstGeom>
          <a:noFill/>
          <a:ln w="22225">
            <a:solidFill>
              <a:schemeClr val="tx1"/>
            </a:solidFill>
            <a:prstDash val="solid"/>
          </a:ln>
        </p:spPr>
      </p:sp>
      <p:sp>
        <p:nvSpPr>
          <p:cNvPr id="52" name="legend-text-94"/>
          <p:cNvSpPr txBox="1"/>
          <p:nvPr/>
        </p:nvSpPr>
        <p:spPr>
          <a:xfrm>
            <a:off x="1005840" y="5138928"/>
            <a:ext cx="2286000" cy="228600"/>
          </a:xfrm>
          <a:prstGeom prst="rect">
            <a:avLst/>
          </a:prstGeom>
          <a:noFill/>
          <a:ln/>
        </p:spPr>
        <p:txBody>
          <a:bodyPr wrap="square" lIns="0" tIns="0" rIns="0" bIns="0" rtlCol="0" anchor="t"/>
          <a:lstStyle/>
          <a:p>
            <a:pPr indent="0" marL="0">
              <a:buNone/>
            </a:pPr>
            <a:r>
              <a:rPr lang="en-US" sz="1100" dirty="0">
                <a:solidFill>
                  <a:schemeClr val="tx2"/>
                </a:solidFill>
              </a:rPr>
              <a:t>Vòng điều khiển thời gian thực</a:t>
            </a:r>
            <a:endParaRPr lang="en-US" sz="1100" dirty="0"/>
          </a:p>
        </p:txBody>
      </p:sp>
      <p:sp>
        <p:nvSpPr>
          <p:cNvPr id="53" name="legend-line-95"/>
          <p:cNvSpPr/>
          <p:nvPr/>
        </p:nvSpPr>
        <p:spPr>
          <a:xfrm>
            <a:off x="548640" y="5522976"/>
            <a:ext cx="365760" cy="0"/>
          </a:xfrm>
          <a:prstGeom prst="line">
            <a:avLst/>
          </a:prstGeom>
          <a:noFill/>
          <a:ln w="22225">
            <a:solidFill>
              <a:schemeClr val="accent1"/>
            </a:solidFill>
            <a:prstDash val="solid"/>
          </a:ln>
        </p:spPr>
      </p:sp>
      <p:sp>
        <p:nvSpPr>
          <p:cNvPr id="54" name="legend-text-96"/>
          <p:cNvSpPr txBox="1"/>
          <p:nvPr/>
        </p:nvSpPr>
        <p:spPr>
          <a:xfrm>
            <a:off x="1005840" y="5413248"/>
            <a:ext cx="2286000" cy="228600"/>
          </a:xfrm>
          <a:prstGeom prst="rect">
            <a:avLst/>
          </a:prstGeom>
          <a:noFill/>
          <a:ln/>
        </p:spPr>
        <p:txBody>
          <a:bodyPr wrap="square" lIns="0" tIns="0" rIns="0" bIns="0" rtlCol="0" anchor="t"/>
          <a:lstStyle/>
          <a:p>
            <a:pPr indent="0" marL="0">
              <a:buNone/>
            </a:pPr>
            <a:r>
              <a:rPr lang="en-US" sz="1100" dirty="0">
                <a:solidFill>
                  <a:schemeClr val="tx2"/>
                </a:solidFill>
              </a:rPr>
              <a:t>Nhánh thích nghi theo SoH</a:t>
            </a:r>
            <a:endParaRPr lang="en-US" sz="1100" dirty="0"/>
          </a:p>
        </p:txBody>
      </p:sp>
      <p:sp>
        <p:nvSpPr>
          <p:cNvPr id="55" name="legend-line-97"/>
          <p:cNvSpPr/>
          <p:nvPr/>
        </p:nvSpPr>
        <p:spPr>
          <a:xfrm>
            <a:off x="548640" y="5797296"/>
            <a:ext cx="365760" cy="0"/>
          </a:xfrm>
          <a:prstGeom prst="line">
            <a:avLst/>
          </a:prstGeom>
          <a:noFill/>
          <a:ln w="22225">
            <a:solidFill>
              <a:schemeClr val="accent2"/>
            </a:solidFill>
            <a:prstDash val="dash"/>
          </a:ln>
        </p:spPr>
      </p:sp>
      <p:sp>
        <p:nvSpPr>
          <p:cNvPr id="56" name="legend-text-98"/>
          <p:cNvSpPr txBox="1"/>
          <p:nvPr/>
        </p:nvSpPr>
        <p:spPr>
          <a:xfrm>
            <a:off x="1005840" y="5687568"/>
            <a:ext cx="2286000" cy="228600"/>
          </a:xfrm>
          <a:prstGeom prst="rect">
            <a:avLst/>
          </a:prstGeom>
          <a:noFill/>
          <a:ln/>
        </p:spPr>
        <p:txBody>
          <a:bodyPr wrap="square" lIns="0" tIns="0" rIns="0" bIns="0" rtlCol="0" anchor="t"/>
          <a:lstStyle/>
          <a:p>
            <a:pPr indent="0" marL="0">
              <a:buNone/>
            </a:pPr>
            <a:r>
              <a:rPr lang="en-US" sz="1100" dirty="0">
                <a:solidFill>
                  <a:schemeClr val="tx2"/>
                </a:solidFill>
              </a:rPr>
              <a:t>Vòng tối ưu ngoại tuyến</a:t>
            </a:r>
            <a:endParaRPr lang="en-US" sz="1100" dirty="0"/>
          </a:p>
        </p:txBody>
      </p:sp>
      <p:sp>
        <p:nvSpPr>
          <p:cNvPr id="25" name="Slide Number Placeholder 0"/>
          <p:cNvSpPr>
            <a:spLocks noGrp="1"/>
          </p:cNvSpPr>
          <p:nvPr>
            <p:ph type="sldNum" sz="quarter" idx="4294967295"/>
          </p:nvPr>
        </p:nvSpPr>
        <p:spPr>
          <a:xfrm>
            <a:off x="11091672"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300" b="1" spc="50" kern="0" dirty="0">
                <a:solidFill>
                  <a:schemeClr val="accent1"/>
                </a:solidFill>
              </a:rPr>
              <a:t>Phương pháp kiểm chứng</a:t>
            </a:r>
            <a:endParaRPr lang="en-US" sz="1300" dirty="0"/>
          </a:p>
        </p:txBody>
      </p:sp>
      <p:sp>
        <p:nvSpPr>
          <p:cNvPr id="3" name="Text 0"/>
          <p:cNvSpPr/>
          <p:nvPr>
            <p:ph idx="101" type="title" hasCustomPrompt="1"/>
          </p:nvPr>
        </p:nvSpPr>
        <p:spPr>
          <a:xfrm>
            <a:off x="548640" y="658368"/>
            <a:ext cx="11064240" cy="603504"/>
          </a:xfrm>
          <a:prstGeom prst="rect">
            <a:avLst/>
          </a:prstGeom>
          <a:noFill/>
          <a:ln/>
        </p:spPr>
        <p:txBody>
          <a:bodyPr wrap="square" lIns="0" tIns="0" rIns="0" bIns="0" rtlCol="0" anchor="ctr"/>
          <a:lstStyle/>
          <a:p>
            <a:pPr algn="l" indent="0" marL="0">
              <a:buNone/>
            </a:pPr>
            <a:r>
              <a:rPr lang="en-US" sz="3200" b="1" dirty="0">
                <a:solidFill>
                  <a:schemeClr val="tx1"/>
                </a:solidFill>
              </a:rPr>
              <a:t>Quy trình kiểm chứng định lượng</a:t>
            </a:r>
            <a:endParaRPr lang="en-US" sz="3200" dirty="0"/>
          </a:p>
        </p:txBody>
      </p:sp>
      <p:sp>
        <p:nvSpPr>
          <p:cNvPr id="4" name="step-node-99"/>
          <p:cNvSpPr/>
          <p:nvPr/>
        </p:nvSpPr>
        <p:spPr>
          <a:xfrm>
            <a:off x="548640" y="1600200"/>
            <a:ext cx="457200" cy="457200"/>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5" name="step-arrow-100"/>
          <p:cNvSpPr/>
          <p:nvPr/>
        </p:nvSpPr>
        <p:spPr>
          <a:xfrm>
            <a:off x="1115568" y="1828800"/>
            <a:ext cx="2151583" cy="0"/>
          </a:xfrm>
          <a:prstGeom prst="line">
            <a:avLst/>
          </a:prstGeom>
          <a:noFill/>
          <a:ln w="15875">
            <a:solidFill>
              <a:schemeClr val="accent4"/>
            </a:solidFill>
            <a:prstDash val="solid"/>
            <a:tailEnd type="triangle"/>
          </a:ln>
        </p:spPr>
      </p:sp>
      <p:sp>
        <p:nvSpPr>
          <p:cNvPr id="6" name="step-title-101"/>
          <p:cNvSpPr txBox="1"/>
          <p:nvPr/>
        </p:nvSpPr>
        <p:spPr>
          <a:xfrm>
            <a:off x="548640" y="2286000"/>
            <a:ext cx="2606040" cy="685800"/>
          </a:xfrm>
          <a:prstGeom prst="rect">
            <a:avLst/>
          </a:prstGeom>
          <a:noFill/>
          <a:ln/>
        </p:spPr>
        <p:txBody>
          <a:bodyPr wrap="square" lIns="0" tIns="0" rIns="0" bIns="0" rtlCol="0" anchor="t"/>
          <a:lstStyle/>
          <a:p>
            <a:pPr indent="0" marL="0">
              <a:buNone/>
            </a:pPr>
            <a:r>
              <a:rPr lang="en-US" sz="1800" b="1" dirty="0">
                <a:solidFill>
                  <a:schemeClr val="tx1"/>
                </a:solidFill>
              </a:rPr>
              <a:t>Xác định mô hình và điều kiện</a:t>
            </a:r>
            <a:endParaRPr lang="en-US" sz="1800" dirty="0"/>
          </a:p>
        </p:txBody>
      </p:sp>
      <p:sp>
        <p:nvSpPr>
          <p:cNvPr id="7" name="step-body-102"/>
          <p:cNvSpPr txBox="1"/>
          <p:nvPr/>
        </p:nvSpPr>
        <p:spPr>
          <a:xfrm>
            <a:off x="548640" y="2999232"/>
            <a:ext cx="2606040" cy="2194560"/>
          </a:xfrm>
          <a:prstGeom prst="rect">
            <a:avLst/>
          </a:prstGeom>
          <a:noFill/>
          <a:ln/>
        </p:spPr>
        <p:txBody>
          <a:bodyPr wrap="square" lIns="0" tIns="0" rIns="0" bIns="0" rtlCol="0" anchor="t"/>
          <a:lstStyle/>
          <a:p>
            <a:pPr indent="0" marL="0">
              <a:lnSpc>
                <a:spcPct val="100000"/>
              </a:lnSpc>
              <a:spcAft>
                <a:spcPts val="700"/>
              </a:spcAft>
              <a:buNone/>
            </a:pPr>
            <a:r>
              <a:rPr lang="en-US" sz="1500" dirty="0">
                <a:solidFill>
                  <a:schemeClr val="tx2"/>
                </a:solidFill>
              </a:rPr>
              <a:t>Mô hình xe, động cơ, pin</a:t>
            </a:r>
            <a:endParaRPr lang="en-US" sz="1500" dirty="0"/>
          </a:p>
          <a:p>
            <a:pPr indent="0" marL="0">
              <a:lnSpc>
                <a:spcPct val="100000"/>
              </a:lnSpc>
              <a:spcAft>
                <a:spcPts val="700"/>
              </a:spcAft>
              <a:buNone/>
            </a:pPr>
            <a:r>
              <a:rPr lang="en-US" sz="1500" dirty="0">
                <a:solidFill>
                  <a:schemeClr val="tx2"/>
                </a:solidFill>
              </a:rPr>
              <a:t>SoC, SoH ban đầu; giả định tường minh</a:t>
            </a:r>
            <a:endParaRPr lang="en-US" sz="1500" dirty="0"/>
          </a:p>
          <a:p>
            <a:pPr indent="0" marL="0">
              <a:lnSpc>
                <a:spcPct val="100000"/>
              </a:lnSpc>
              <a:spcAft>
                <a:spcPts val="700"/>
              </a:spcAft>
              <a:buNone/>
            </a:pPr>
            <a:r>
              <a:rPr lang="en-US" sz="1500" dirty="0">
                <a:solidFill>
                  <a:schemeClr val="tx2"/>
                </a:solidFill>
              </a:rPr>
              <a:t>Nguồn gốc từng tham số</a:t>
            </a:r>
            <a:endParaRPr lang="en-US" sz="1500" dirty="0"/>
          </a:p>
          <a:p>
            <a:pPr indent="0" marL="0">
              <a:lnSpc>
                <a:spcPct val="100000"/>
              </a:lnSpc>
              <a:spcAft>
                <a:spcPts val="700"/>
              </a:spcAft>
              <a:buNone/>
            </a:pPr>
            <a:r>
              <a:rPr lang="en-US" sz="1500" dirty="0">
                <a:solidFill>
                  <a:schemeClr val="tx2"/>
                </a:solidFill>
              </a:rPr>
              <a:t>Một biên tính năng lượng thống nhất</a:t>
            </a:r>
            <a:endParaRPr lang="en-US" sz="1500" dirty="0"/>
          </a:p>
        </p:txBody>
      </p:sp>
      <p:sp>
        <p:nvSpPr>
          <p:cNvPr id="8" name="step-node-103"/>
          <p:cNvSpPr/>
          <p:nvPr/>
        </p:nvSpPr>
        <p:spPr>
          <a:xfrm>
            <a:off x="3376879" y="1600200"/>
            <a:ext cx="457200" cy="457200"/>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9" name="step-arrow-104"/>
          <p:cNvSpPr/>
          <p:nvPr/>
        </p:nvSpPr>
        <p:spPr>
          <a:xfrm>
            <a:off x="3943807" y="1828800"/>
            <a:ext cx="2151583" cy="0"/>
          </a:xfrm>
          <a:prstGeom prst="line">
            <a:avLst/>
          </a:prstGeom>
          <a:noFill/>
          <a:ln w="15875">
            <a:solidFill>
              <a:schemeClr val="accent4"/>
            </a:solidFill>
            <a:prstDash val="solid"/>
            <a:tailEnd type="triangle"/>
          </a:ln>
        </p:spPr>
      </p:sp>
      <p:sp>
        <p:nvSpPr>
          <p:cNvPr id="10" name="step-title-105"/>
          <p:cNvSpPr txBox="1"/>
          <p:nvPr/>
        </p:nvSpPr>
        <p:spPr>
          <a:xfrm>
            <a:off x="3376879" y="2286000"/>
            <a:ext cx="2606040" cy="685800"/>
          </a:xfrm>
          <a:prstGeom prst="rect">
            <a:avLst/>
          </a:prstGeom>
          <a:noFill/>
          <a:ln/>
        </p:spPr>
        <p:txBody>
          <a:bodyPr wrap="square" lIns="0" tIns="0" rIns="0" bIns="0" rtlCol="0" anchor="t"/>
          <a:lstStyle/>
          <a:p>
            <a:pPr indent="0" marL="0">
              <a:buNone/>
            </a:pPr>
            <a:r>
              <a:rPr lang="en-US" sz="1800" b="1" dirty="0">
                <a:solidFill>
                  <a:schemeClr val="tx1"/>
                </a:solidFill>
              </a:rPr>
              <a:t>So sánh công bằng</a:t>
            </a:r>
            <a:endParaRPr lang="en-US" sz="1800" dirty="0"/>
          </a:p>
        </p:txBody>
      </p:sp>
      <p:sp>
        <p:nvSpPr>
          <p:cNvPr id="11" name="step-body-106"/>
          <p:cNvSpPr txBox="1"/>
          <p:nvPr/>
        </p:nvSpPr>
        <p:spPr>
          <a:xfrm>
            <a:off x="3376879" y="2999232"/>
            <a:ext cx="2606040" cy="2194560"/>
          </a:xfrm>
          <a:prstGeom prst="rect">
            <a:avLst/>
          </a:prstGeom>
          <a:noFill/>
          <a:ln/>
        </p:spPr>
        <p:txBody>
          <a:bodyPr wrap="square" lIns="0" tIns="0" rIns="0" bIns="0" rtlCol="0" anchor="t"/>
          <a:lstStyle/>
          <a:p>
            <a:pPr indent="0" marL="0">
              <a:lnSpc>
                <a:spcPct val="100000"/>
              </a:lnSpc>
              <a:spcAft>
                <a:spcPts val="700"/>
              </a:spcAft>
              <a:buNone/>
            </a:pPr>
            <a:r>
              <a:rPr lang="en-US" sz="1500" dirty="0">
                <a:solidFill>
                  <a:schemeClr val="tx2"/>
                </a:solidFill>
              </a:rPr>
              <a:t>LQR cố định ↔ LQR thích nghi</a:t>
            </a:r>
            <a:endParaRPr lang="en-US" sz="1500" dirty="0"/>
          </a:p>
          <a:p>
            <a:pPr indent="0" marL="0">
              <a:lnSpc>
                <a:spcPct val="100000"/>
              </a:lnSpc>
              <a:spcAft>
                <a:spcPts val="700"/>
              </a:spcAft>
              <a:buNone/>
            </a:pPr>
            <a:r>
              <a:rPr lang="en-US" sz="1500" dirty="0">
                <a:solidFill>
                  <a:schemeClr val="tx2"/>
                </a:solidFill>
              </a:rPr>
              <a:t>Cùng đối tượng, chu trình lái, điều kiện đầu và ràng buộc</a:t>
            </a:r>
            <a:endParaRPr lang="en-US" sz="1500" dirty="0"/>
          </a:p>
          <a:p>
            <a:pPr indent="0" marL="0">
              <a:lnSpc>
                <a:spcPct val="100000"/>
              </a:lnSpc>
              <a:spcAft>
                <a:spcPts val="700"/>
              </a:spcAft>
              <a:buNone/>
            </a:pPr>
            <a:r>
              <a:rPr lang="en-US" sz="1500" dirty="0">
                <a:solidFill>
                  <a:schemeClr val="tx2"/>
                </a:solidFill>
              </a:rPr>
              <a:t>Bộ điều khiển khác chỉ khi có cài đặt đầy đủ</a:t>
            </a:r>
            <a:endParaRPr lang="en-US" sz="1500" dirty="0"/>
          </a:p>
        </p:txBody>
      </p:sp>
      <p:sp>
        <p:nvSpPr>
          <p:cNvPr id="12" name="step-node-107"/>
          <p:cNvSpPr/>
          <p:nvPr/>
        </p:nvSpPr>
        <p:spPr>
          <a:xfrm>
            <a:off x="6205118" y="1600200"/>
            <a:ext cx="457200" cy="457200"/>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3" name="step-arrow-108"/>
          <p:cNvSpPr/>
          <p:nvPr/>
        </p:nvSpPr>
        <p:spPr>
          <a:xfrm>
            <a:off x="6772046" y="1828800"/>
            <a:ext cx="2151583" cy="0"/>
          </a:xfrm>
          <a:prstGeom prst="line">
            <a:avLst/>
          </a:prstGeom>
          <a:noFill/>
          <a:ln w="15875">
            <a:solidFill>
              <a:schemeClr val="accent4"/>
            </a:solidFill>
            <a:prstDash val="solid"/>
            <a:tailEnd type="triangle"/>
          </a:ln>
        </p:spPr>
      </p:sp>
      <p:sp>
        <p:nvSpPr>
          <p:cNvPr id="14" name="step-title-109"/>
          <p:cNvSpPr txBox="1"/>
          <p:nvPr/>
        </p:nvSpPr>
        <p:spPr>
          <a:xfrm>
            <a:off x="6205118" y="2286000"/>
            <a:ext cx="2606040" cy="685800"/>
          </a:xfrm>
          <a:prstGeom prst="rect">
            <a:avLst/>
          </a:prstGeom>
          <a:noFill/>
          <a:ln/>
        </p:spPr>
        <p:txBody>
          <a:bodyPr wrap="square" lIns="0" tIns="0" rIns="0" bIns="0" rtlCol="0" anchor="t"/>
          <a:lstStyle/>
          <a:p>
            <a:pPr indent="0" marL="0">
              <a:buNone/>
            </a:pPr>
            <a:r>
              <a:rPr lang="en-US" sz="1800" b="1" dirty="0">
                <a:solidFill>
                  <a:schemeClr val="tx1"/>
                </a:solidFill>
              </a:rPr>
              <a:t>Tính chỉ số riêng biệt</a:t>
            </a:r>
            <a:endParaRPr lang="en-US" sz="1800" dirty="0"/>
          </a:p>
        </p:txBody>
      </p:sp>
      <p:sp>
        <p:nvSpPr>
          <p:cNvPr id="15" name="step-node-110"/>
          <p:cNvSpPr/>
          <p:nvPr/>
        </p:nvSpPr>
        <p:spPr>
          <a:xfrm>
            <a:off x="9033358" y="1600200"/>
            <a:ext cx="457200" cy="457200"/>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6" name="step-title-111"/>
          <p:cNvSpPr txBox="1"/>
          <p:nvPr/>
        </p:nvSpPr>
        <p:spPr>
          <a:xfrm>
            <a:off x="9033358" y="2286000"/>
            <a:ext cx="2606040" cy="685800"/>
          </a:xfrm>
          <a:prstGeom prst="rect">
            <a:avLst/>
          </a:prstGeom>
          <a:noFill/>
          <a:ln/>
        </p:spPr>
        <p:txBody>
          <a:bodyPr wrap="square" lIns="0" tIns="0" rIns="0" bIns="0" rtlCol="0" anchor="t"/>
          <a:lstStyle/>
          <a:p>
            <a:pPr indent="0" marL="0">
              <a:buNone/>
            </a:pPr>
            <a:r>
              <a:rPr lang="en-US" sz="1800" b="1" dirty="0">
                <a:solidFill>
                  <a:schemeClr val="tx1"/>
                </a:solidFill>
              </a:rPr>
              <a:t>Bền vững và tái lập</a:t>
            </a:r>
            <a:endParaRPr lang="en-US" sz="1800" dirty="0"/>
          </a:p>
        </p:txBody>
      </p:sp>
      <p:sp>
        <p:nvSpPr>
          <p:cNvPr id="17" name="step-body-112"/>
          <p:cNvSpPr txBox="1"/>
          <p:nvPr/>
        </p:nvSpPr>
        <p:spPr>
          <a:xfrm>
            <a:off x="9033358" y="2999232"/>
            <a:ext cx="2606040" cy="2194560"/>
          </a:xfrm>
          <a:prstGeom prst="rect">
            <a:avLst/>
          </a:prstGeom>
          <a:noFill/>
          <a:ln/>
        </p:spPr>
        <p:txBody>
          <a:bodyPr wrap="square" lIns="0" tIns="0" rIns="0" bIns="0" rtlCol="0" anchor="t"/>
          <a:lstStyle/>
          <a:p>
            <a:pPr indent="0" marL="0">
              <a:lnSpc>
                <a:spcPct val="100000"/>
              </a:lnSpc>
              <a:spcAft>
                <a:spcPts val="700"/>
              </a:spcAft>
              <a:buNone/>
            </a:pPr>
            <a:r>
              <a:rPr lang="en-US" sz="1500" dirty="0">
                <a:solidFill>
                  <a:schemeClr val="tx2"/>
                </a:solidFill>
              </a:rPr>
              <a:t>NEDC · WLTP · CLTC · VUC, khi có dữ liệu rõ nguồn</a:t>
            </a:r>
            <a:endParaRPr lang="en-US" sz="1500" dirty="0"/>
          </a:p>
          <a:p>
            <a:pPr indent="0" marL="0">
              <a:lnSpc>
                <a:spcPct val="100000"/>
              </a:lnSpc>
              <a:spcAft>
                <a:spcPts val="700"/>
              </a:spcAft>
              <a:buNone/>
            </a:pPr>
            <a:r>
              <a:rPr lang="en-US" sz="1500" dirty="0">
                <a:solidFill>
                  <a:schemeClr val="tx2"/>
                </a:solidFill>
              </a:rPr>
              <a:t>Độ nhạy theo kế hoạch lấy mẫu đã định</a:t>
            </a:r>
            <a:endParaRPr lang="en-US" sz="1500" dirty="0"/>
          </a:p>
          <a:p>
            <a:pPr indent="0" marL="0">
              <a:lnSpc>
                <a:spcPct val="100000"/>
              </a:lnSpc>
              <a:spcAft>
                <a:spcPts val="700"/>
              </a:spcAft>
              <a:buNone/>
            </a:pPr>
            <a:r>
              <a:rPr lang="en-US" sz="1500" dirty="0">
                <a:solidFill>
                  <a:schemeClr val="tx2"/>
                </a:solidFill>
              </a:rPr>
              <a:t>Lưu dữ liệu thô, tham số, nhật ký</a:t>
            </a:r>
            <a:endParaRPr lang="en-US" sz="1500" dirty="0"/>
          </a:p>
          <a:p>
            <a:pPr indent="0" marL="0">
              <a:lnSpc>
                <a:spcPct val="100000"/>
              </a:lnSpc>
              <a:spcAft>
                <a:spcPts val="700"/>
              </a:spcAft>
              <a:buNone/>
            </a:pPr>
            <a:r>
              <a:rPr lang="en-US" sz="1500" dirty="0">
                <a:solidFill>
                  <a:schemeClr val="tx2"/>
                </a:solidFill>
              </a:rPr>
              <a:t>Thống kê chỉ khi thiết kế mẫu cho phép</a:t>
            </a:r>
            <a:endParaRPr lang="en-US" sz="1500" dirty="0"/>
          </a:p>
        </p:txBody>
      </p:sp>
      <p:sp>
        <p:nvSpPr>
          <p:cNvPr id="18" name="metric-dot-113"/>
          <p:cNvSpPr/>
          <p:nvPr/>
        </p:nvSpPr>
        <p:spPr>
          <a:xfrm>
            <a:off x="6214262" y="3063240"/>
            <a:ext cx="128016" cy="128016"/>
          </a:xfrm>
          <a:prstGeom prst="ellipse">
            <a:avLst/>
          </a:prstGeom>
          <a:solidFill>
            <a:schemeClr val="tx1"/>
          </a:solidFill>
          <a:ln w="6350">
            <a:solidFill>
              <a:schemeClr val="tx1"/>
            </a:solidFill>
            <a:prstDash val="solid"/>
          </a:ln>
        </p:spPr>
      </p:sp>
      <p:sp>
        <p:nvSpPr>
          <p:cNvPr id="19" name="metric-item-114"/>
          <p:cNvSpPr txBox="1"/>
          <p:nvPr/>
        </p:nvSpPr>
        <p:spPr>
          <a:xfrm>
            <a:off x="6452006" y="2999232"/>
            <a:ext cx="2359152" cy="548640"/>
          </a:xfrm>
          <a:prstGeom prst="rect">
            <a:avLst/>
          </a:prstGeom>
          <a:noFill/>
          <a:ln/>
        </p:spPr>
        <p:txBody>
          <a:bodyPr wrap="square" lIns="0" tIns="0" rIns="0" bIns="0" rtlCol="0" anchor="t"/>
          <a:lstStyle/>
          <a:p>
            <a:pPr indent="0" marL="0">
              <a:buNone/>
            </a:pPr>
            <a:r>
              <a:rPr lang="en-US" sz="1500" b="1" dirty="0">
                <a:solidFill>
                  <a:schemeClr val="tx1"/>
                </a:solidFill>
              </a:rPr>
              <a:t>Sai số bám tốc độ</a:t>
            </a:r>
            <a:endParaRPr lang="en-US" sz="1600" dirty="0"/>
          </a:p>
          <a:p>
            <a:pPr indent="0" marL="0">
              <a:buNone/>
            </a:pPr>
            <a:r>
              <a:rPr lang="en-US" sz="1300" dirty="0">
                <a:solidFill>
                  <a:schemeClr val="tx2"/>
                </a:solidFill>
              </a:rPr>
              <a:t>RMSE, m/s</a:t>
            </a:r>
            <a:endParaRPr lang="en-US" sz="1600" dirty="0"/>
          </a:p>
        </p:txBody>
      </p:sp>
      <p:sp>
        <p:nvSpPr>
          <p:cNvPr id="20" name="metric-divider-115"/>
          <p:cNvSpPr/>
          <p:nvPr/>
        </p:nvSpPr>
        <p:spPr>
          <a:xfrm>
            <a:off x="6205118" y="3566160"/>
            <a:ext cx="2606040" cy="0"/>
          </a:xfrm>
          <a:prstGeom prst="line">
            <a:avLst/>
          </a:prstGeom>
          <a:noFill/>
          <a:ln w="12700">
            <a:solidFill>
              <a:schemeClr val="accent3"/>
            </a:solidFill>
            <a:prstDash val="solid"/>
          </a:ln>
        </p:spPr>
      </p:sp>
      <p:sp>
        <p:nvSpPr>
          <p:cNvPr id="21" name="metric-dot-116"/>
          <p:cNvSpPr/>
          <p:nvPr/>
        </p:nvSpPr>
        <p:spPr>
          <a:xfrm>
            <a:off x="6214262" y="3721608"/>
            <a:ext cx="128016" cy="128016"/>
          </a:xfrm>
          <a:prstGeom prst="ellipse">
            <a:avLst/>
          </a:prstGeom>
          <a:solidFill>
            <a:schemeClr val="accent1"/>
          </a:solidFill>
          <a:ln w="6350">
            <a:solidFill>
              <a:schemeClr val="accent1"/>
            </a:solidFill>
            <a:prstDash val="solid"/>
          </a:ln>
        </p:spPr>
      </p:sp>
      <p:sp>
        <p:nvSpPr>
          <p:cNvPr id="22" name="metric-item-117"/>
          <p:cNvSpPr txBox="1"/>
          <p:nvPr/>
        </p:nvSpPr>
        <p:spPr>
          <a:xfrm>
            <a:off x="6452006" y="3657600"/>
            <a:ext cx="2359152" cy="548640"/>
          </a:xfrm>
          <a:prstGeom prst="rect">
            <a:avLst/>
          </a:prstGeom>
          <a:noFill/>
          <a:ln/>
        </p:spPr>
        <p:txBody>
          <a:bodyPr wrap="square" lIns="0" tIns="0" rIns="0" bIns="0" rtlCol="0" anchor="t"/>
          <a:lstStyle/>
          <a:p>
            <a:pPr indent="0" marL="0">
              <a:buNone/>
            </a:pPr>
            <a:r>
              <a:rPr lang="en-US" sz="1500" b="1" dirty="0">
                <a:solidFill>
                  <a:schemeClr val="tx1"/>
                </a:solidFill>
              </a:rPr>
              <a:t>Năng lượng</a:t>
            </a:r>
            <a:endParaRPr lang="en-US" sz="1600" dirty="0"/>
          </a:p>
          <a:p>
            <a:pPr indent="0" marL="0">
              <a:buNone/>
            </a:pPr>
            <a:r>
              <a:rPr lang="en-US" sz="1300" dirty="0">
                <a:solidFill>
                  <a:schemeClr val="tx2"/>
                </a:solidFill>
              </a:rPr>
              <a:t>Wh/km, biên tính rõ ràng</a:t>
            </a:r>
            <a:endParaRPr lang="en-US" sz="1600" dirty="0"/>
          </a:p>
        </p:txBody>
      </p:sp>
      <p:sp>
        <p:nvSpPr>
          <p:cNvPr id="23" name="metric-divider-118"/>
          <p:cNvSpPr/>
          <p:nvPr/>
        </p:nvSpPr>
        <p:spPr>
          <a:xfrm>
            <a:off x="6205118" y="4224528"/>
            <a:ext cx="2606040" cy="0"/>
          </a:xfrm>
          <a:prstGeom prst="line">
            <a:avLst/>
          </a:prstGeom>
          <a:noFill/>
          <a:ln w="12700">
            <a:solidFill>
              <a:schemeClr val="accent3"/>
            </a:solidFill>
            <a:prstDash val="solid"/>
          </a:ln>
        </p:spPr>
      </p:sp>
      <p:sp>
        <p:nvSpPr>
          <p:cNvPr id="24" name="metric-dot-119"/>
          <p:cNvSpPr/>
          <p:nvPr/>
        </p:nvSpPr>
        <p:spPr>
          <a:xfrm>
            <a:off x="6214262" y="4379976"/>
            <a:ext cx="128016" cy="128016"/>
          </a:xfrm>
          <a:prstGeom prst="ellipse">
            <a:avLst/>
          </a:prstGeom>
          <a:solidFill>
            <a:schemeClr val="accent2"/>
          </a:solidFill>
          <a:ln w="6350">
            <a:solidFill>
              <a:schemeClr val="accent2"/>
            </a:solidFill>
            <a:prstDash val="solid"/>
          </a:ln>
        </p:spPr>
      </p:sp>
      <p:sp>
        <p:nvSpPr>
          <p:cNvPr id="25" name="metric-item-120"/>
          <p:cNvSpPr txBox="1"/>
          <p:nvPr/>
        </p:nvSpPr>
        <p:spPr>
          <a:xfrm>
            <a:off x="6452006" y="4315968"/>
            <a:ext cx="2359152" cy="548640"/>
          </a:xfrm>
          <a:prstGeom prst="rect">
            <a:avLst/>
          </a:prstGeom>
          <a:noFill/>
          <a:ln/>
        </p:spPr>
        <p:txBody>
          <a:bodyPr wrap="square" lIns="0" tIns="0" rIns="0" bIns="0" rtlCol="0" anchor="t"/>
          <a:lstStyle/>
          <a:p>
            <a:pPr indent="0" marL="0">
              <a:buNone/>
            </a:pPr>
            <a:r>
              <a:rPr lang="en-US" sz="1500" b="1" dirty="0">
                <a:solidFill>
                  <a:schemeClr val="tx1"/>
                </a:solidFill>
              </a:rPr>
              <a:t>Suy giảm dung lượng</a:t>
            </a:r>
            <a:endParaRPr lang="en-US" sz="1600" dirty="0"/>
          </a:p>
          <a:p>
            <a:pPr indent="0" marL="0">
              <a:buNone/>
            </a:pPr>
            <a:r>
              <a:rPr lang="en-US" sz="1300" dirty="0">
                <a:solidFill>
                  <a:schemeClr val="tx2"/>
                </a:solidFill>
              </a:rPr>
              <a:t>từ mô hình lão hóa đã cài đặt</a:t>
            </a:r>
            <a:endParaRPr lang="en-US" sz="1600" dirty="0"/>
          </a:p>
        </p:txBody>
      </p:sp>
      <p:sp>
        <p:nvSpPr>
          <p:cNvPr id="26" name="reference-band-121"/>
          <p:cNvSpPr/>
          <p:nvPr/>
        </p:nvSpPr>
        <p:spPr>
          <a:xfrm>
            <a:off x="548640" y="5358384"/>
            <a:ext cx="11091672" cy="896112"/>
          </a:xfrm>
          <a:prstGeom prst="rect">
            <a:avLst/>
          </a:prstGeom>
          <a:solidFill>
            <a:schemeClr val="bg2"/>
          </a:solidFill>
          <a:ln w="6350">
            <a:solidFill>
              <a:schemeClr val="bg2"/>
            </a:solidFill>
            <a:prstDash val="solid"/>
          </a:ln>
        </p:spPr>
      </p:sp>
      <p:sp>
        <p:nvSpPr>
          <p:cNvPr id="27" name="reference-label-122"/>
          <p:cNvSpPr txBox="1"/>
          <p:nvPr/>
        </p:nvSpPr>
        <p:spPr>
          <a:xfrm>
            <a:off x="777240" y="5486400"/>
            <a:ext cx="2514600" cy="713232"/>
          </a:xfrm>
          <a:prstGeom prst="rect">
            <a:avLst/>
          </a:prstGeom>
          <a:noFill/>
          <a:ln/>
        </p:spPr>
        <p:txBody>
          <a:bodyPr wrap="square" lIns="0" tIns="0" rIns="0" bIns="0" rtlCol="0" anchor="ctr"/>
          <a:lstStyle/>
          <a:p>
            <a:pPr indent="0" marL="0">
              <a:buNone/>
            </a:pPr>
            <a:r>
              <a:rPr lang="en-US" sz="1400" b="1" dirty="0">
                <a:solidFill>
                  <a:schemeClr val="accent1"/>
                </a:solidFill>
              </a:rPr>
              <a:t>Đối chiếu định lượng</a:t>
            </a:r>
            <a:endParaRPr lang="en-US" sz="1600" dirty="0"/>
          </a:p>
          <a:p>
            <a:pPr indent="0" marL="0">
              <a:buNone/>
            </a:pPr>
            <a:r>
              <a:rPr lang="en-US" sz="1100" dirty="0">
                <a:solidFill>
                  <a:schemeClr val="tx2"/>
                </a:solidFill>
              </a:rPr>
              <a:t>Giá trị do luận văn báo cáo: mốc đối chiếu, không phải mục tiêu tinh chỉnh</a:t>
            </a:r>
            <a:endParaRPr lang="en-US" sz="1600" dirty="0"/>
          </a:p>
        </p:txBody>
      </p:sp>
      <p:sp>
        <p:nvSpPr>
          <p:cNvPr id="28" name="reference-dot-123"/>
          <p:cNvSpPr/>
          <p:nvPr/>
        </p:nvSpPr>
        <p:spPr>
          <a:xfrm>
            <a:off x="3520440" y="5632704"/>
            <a:ext cx="128016" cy="128016"/>
          </a:xfrm>
          <a:prstGeom prst="ellipse">
            <a:avLst/>
          </a:prstGeom>
          <a:solidFill>
            <a:schemeClr val="accent1"/>
          </a:solidFill>
          <a:ln w="6350">
            <a:solidFill>
              <a:schemeClr val="accent1"/>
            </a:solidFill>
            <a:prstDash val="solid"/>
          </a:ln>
        </p:spPr>
      </p:sp>
      <p:sp>
        <p:nvSpPr>
          <p:cNvPr id="29" name="reference-figure-124"/>
          <p:cNvSpPr txBox="1"/>
          <p:nvPr/>
        </p:nvSpPr>
        <p:spPr>
          <a:xfrm>
            <a:off x="3749040" y="5522976"/>
            <a:ext cx="2377440" cy="640080"/>
          </a:xfrm>
          <a:prstGeom prst="rect">
            <a:avLst/>
          </a:prstGeom>
          <a:noFill/>
          <a:ln/>
        </p:spPr>
        <p:txBody>
          <a:bodyPr wrap="square" lIns="0" tIns="0" rIns="0" bIns="0" rtlCol="0" anchor="t"/>
          <a:lstStyle/>
          <a:p>
            <a:pPr indent="0" marL="0">
              <a:buNone/>
            </a:pPr>
            <a:r>
              <a:rPr lang="en-US" sz="2200" b="1" dirty="0">
                <a:solidFill>
                  <a:schemeClr val="tx1"/>
                </a:solidFill>
              </a:rPr>
              <a:t>12,5% ± 2,1%</a:t>
            </a:r>
            <a:endParaRPr lang="en-US" sz="1600" dirty="0"/>
          </a:p>
          <a:p>
            <a:pPr indent="0" marL="0">
              <a:buNone/>
            </a:pPr>
            <a:r>
              <a:rPr lang="en-US" sz="1300" dirty="0">
                <a:solidFill>
                  <a:schemeClr val="tx2"/>
                </a:solidFill>
              </a:rPr>
              <a:t>về hiệu quả năng lượng</a:t>
            </a:r>
            <a:endParaRPr lang="en-US" sz="1600" dirty="0"/>
          </a:p>
        </p:txBody>
      </p:sp>
      <p:sp>
        <p:nvSpPr>
          <p:cNvPr id="30" name="reference-dot-125"/>
          <p:cNvSpPr/>
          <p:nvPr/>
        </p:nvSpPr>
        <p:spPr>
          <a:xfrm>
            <a:off x="6446520" y="5632704"/>
            <a:ext cx="128016" cy="128016"/>
          </a:xfrm>
          <a:prstGeom prst="ellipse">
            <a:avLst/>
          </a:prstGeom>
          <a:solidFill>
            <a:schemeClr val="accent2"/>
          </a:solidFill>
          <a:ln w="6350">
            <a:solidFill>
              <a:schemeClr val="accent2"/>
            </a:solidFill>
            <a:prstDash val="solid"/>
          </a:ln>
        </p:spPr>
      </p:sp>
      <p:sp>
        <p:nvSpPr>
          <p:cNvPr id="31" name="reference-figure-126"/>
          <p:cNvSpPr txBox="1"/>
          <p:nvPr/>
        </p:nvSpPr>
        <p:spPr>
          <a:xfrm>
            <a:off x="6675120" y="5522976"/>
            <a:ext cx="4937760" cy="640080"/>
          </a:xfrm>
          <a:prstGeom prst="rect">
            <a:avLst/>
          </a:prstGeom>
          <a:noFill/>
          <a:ln/>
        </p:spPr>
        <p:txBody>
          <a:bodyPr wrap="square" lIns="0" tIns="0" rIns="0" bIns="0" rtlCol="0" anchor="t"/>
          <a:lstStyle/>
          <a:p>
            <a:pPr indent="0" marL="0">
              <a:buNone/>
            </a:pPr>
            <a:r>
              <a:rPr lang="en-US" sz="2200" b="1" dirty="0">
                <a:solidFill>
                  <a:schemeClr val="tx1"/>
                </a:solidFill>
              </a:rPr>
              <a:t>15,3% ± 2,8%</a:t>
            </a:r>
            <a:endParaRPr lang="en-US" sz="1600" dirty="0"/>
          </a:p>
          <a:p>
            <a:pPr indent="0" marL="0">
              <a:buNone/>
            </a:pPr>
            <a:r>
              <a:rPr lang="en-US" sz="1300" dirty="0">
                <a:solidFill>
                  <a:schemeClr val="tx2"/>
                </a:solidFill>
              </a:rPr>
              <a:t>về giảm suy giảm dung lượng qua 1.000 chu kỳ</a:t>
            </a:r>
            <a:endParaRPr lang="en-US" sz="1600" dirty="0"/>
          </a:p>
        </p:txBody>
      </p:sp>
      <p:sp>
        <p:nvSpPr>
          <p:cNvPr id="32" name="reference-separator-127"/>
          <p:cNvSpPr/>
          <p:nvPr/>
        </p:nvSpPr>
        <p:spPr>
          <a:xfrm>
            <a:off x="6172200" y="5541264"/>
            <a:ext cx="0" cy="530352"/>
          </a:xfrm>
          <a:prstGeom prst="line">
            <a:avLst/>
          </a:prstGeom>
          <a:noFill/>
          <a:ln w="12700">
            <a:solidFill>
              <a:schemeClr val="accent6"/>
            </a:solidFill>
            <a:prstDash val="solid"/>
          </a:ln>
        </p:spPr>
      </p:sp>
      <p:sp>
        <p:nvSpPr>
          <p:cNvPr id="25" name="Slide Number Placeholder 0"/>
          <p:cNvSpPr>
            <a:spLocks noGrp="1"/>
          </p:cNvSpPr>
          <p:nvPr>
            <p:ph type="sldNum" sz="quarter" idx="4294967295"/>
          </p:nvPr>
        </p:nvSpPr>
        <p:spPr>
          <a:xfrm>
            <a:off x="11091672"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300" b="1" spc="50" kern="0" dirty="0">
                <a:solidFill>
                  <a:schemeClr val="accent1"/>
                </a:solidFill>
              </a:rPr>
              <a:t>Kết luận</a:t>
            </a:r>
            <a:endParaRPr lang="en-US" sz="1300" dirty="0"/>
          </a:p>
        </p:txBody>
      </p:sp>
      <p:sp>
        <p:nvSpPr>
          <p:cNvPr id="3" name="Text 0"/>
          <p:cNvSpPr/>
          <p:nvPr>
            <p:ph idx="101" type="title" hasCustomPrompt="1"/>
          </p:nvPr>
        </p:nvSpPr>
        <p:spPr>
          <a:xfrm>
            <a:off x="548640" y="658368"/>
            <a:ext cx="11064240" cy="603504"/>
          </a:xfrm>
          <a:prstGeom prst="rect">
            <a:avLst/>
          </a:prstGeom>
          <a:noFill/>
          <a:ln/>
        </p:spPr>
        <p:txBody>
          <a:bodyPr wrap="square" lIns="0" tIns="0" rIns="0" bIns="0" rtlCol="0" anchor="ctr"/>
          <a:lstStyle/>
          <a:p>
            <a:pPr algn="l" indent="0" marL="0">
              <a:buNone/>
            </a:pPr>
            <a:r>
              <a:rPr lang="en-US" sz="3200" b="1" dirty="0">
                <a:solidFill>
                  <a:schemeClr val="tx1"/>
                </a:solidFill>
              </a:rPr>
              <a:t>Kết luận và hướng phát triển</a:t>
            </a:r>
            <a:endParaRPr lang="en-US" sz="3200" dirty="0"/>
          </a:p>
        </p:txBody>
      </p:sp>
      <p:sp>
        <p:nvSpPr>
          <p:cNvPr id="4" name="conclusion-statement-128"/>
          <p:cNvSpPr txBox="1"/>
          <p:nvPr/>
        </p:nvSpPr>
        <p:spPr>
          <a:xfrm>
            <a:off x="548640" y="1600200"/>
            <a:ext cx="9692640" cy="960120"/>
          </a:xfrm>
          <a:prstGeom prst="rect">
            <a:avLst/>
          </a:prstGeom>
          <a:noFill/>
          <a:ln/>
        </p:spPr>
        <p:txBody>
          <a:bodyPr wrap="square" lIns="0" tIns="0" rIns="0" bIns="0" rtlCol="0" anchor="t"/>
          <a:lstStyle/>
          <a:p>
            <a:pPr indent="0" marL="0">
              <a:lnSpc>
                <a:spcPct val="110000"/>
              </a:lnSpc>
              <a:buNone/>
            </a:pPr>
            <a:r>
              <a:rPr lang="en-US" sz="2400" b="1" dirty="0">
                <a:solidFill>
                  <a:schemeClr val="tx1"/>
                </a:solidFill>
              </a:rPr>
              <a:t>Khung điều khiển hướng tới tích hợp trạng thái sức khỏe pin, hiệu quả năng lượng và tối ưu hóa đa mục tiêu cho Micro-EV.</a:t>
            </a:r>
            <a:endParaRPr lang="en-US" sz="2400" dirty="0"/>
          </a:p>
        </p:txBody>
      </p:sp>
      <p:sp>
        <p:nvSpPr>
          <p:cNvPr id="5" name="future-label-129"/>
          <p:cNvSpPr txBox="1"/>
          <p:nvPr/>
        </p:nvSpPr>
        <p:spPr>
          <a:xfrm>
            <a:off x="548640" y="2944368"/>
            <a:ext cx="54864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HƯỚNG PHÁT TRIỂN</a:t>
            </a:r>
            <a:endParaRPr lang="en-US" sz="1200" dirty="0"/>
          </a:p>
        </p:txBody>
      </p:sp>
      <p:sp>
        <p:nvSpPr>
          <p:cNvPr id="6" name="future-progress-130"/>
          <p:cNvSpPr/>
          <p:nvPr/>
        </p:nvSpPr>
        <p:spPr>
          <a:xfrm>
            <a:off x="548640" y="3456432"/>
            <a:ext cx="11091672" cy="0"/>
          </a:xfrm>
          <a:prstGeom prst="line">
            <a:avLst/>
          </a:prstGeom>
          <a:noFill/>
          <a:ln w="15875">
            <a:solidFill>
              <a:schemeClr val="accent4"/>
            </a:solidFill>
            <a:prstDash val="solid"/>
            <a:tailEnd type="triangle"/>
          </a:ln>
        </p:spPr>
      </p:sp>
      <p:sp>
        <p:nvSpPr>
          <p:cNvPr id="7" name="future-node-131"/>
          <p:cNvSpPr/>
          <p:nvPr/>
        </p:nvSpPr>
        <p:spPr>
          <a:xfrm>
            <a:off x="548640" y="3374136"/>
            <a:ext cx="164592" cy="164592"/>
          </a:xfrm>
          <a:prstGeom prst="ellipse">
            <a:avLst/>
          </a:prstGeom>
          <a:solidFill>
            <a:schemeClr val="accent1"/>
          </a:solidFill>
          <a:ln w="6350">
            <a:solidFill>
              <a:schemeClr val="accent1"/>
            </a:solidFill>
            <a:prstDash val="solid"/>
          </a:ln>
        </p:spPr>
      </p:sp>
      <p:sp>
        <p:nvSpPr>
          <p:cNvPr id="8" name="future-num-132"/>
          <p:cNvSpPr txBox="1"/>
          <p:nvPr/>
        </p:nvSpPr>
        <p:spPr>
          <a:xfrm>
            <a:off x="548640" y="3703320"/>
            <a:ext cx="548640" cy="320040"/>
          </a:xfrm>
          <a:prstGeom prst="rect">
            <a:avLst/>
          </a:prstGeom>
          <a:noFill/>
          <a:ln/>
        </p:spPr>
        <p:txBody>
          <a:bodyPr wrap="square" lIns="0" tIns="0" rIns="0" bIns="0" rtlCol="0" anchor="t"/>
          <a:lstStyle/>
          <a:p>
            <a:pPr indent="0" marL="0">
              <a:buNone/>
            </a:pPr>
            <a:r>
              <a:rPr lang="en-US" sz="1500" b="1" dirty="0">
                <a:solidFill>
                  <a:schemeClr val="accent1"/>
                </a:solidFill>
              </a:rPr>
              <a:t>01</a:t>
            </a:r>
            <a:endParaRPr lang="en-US" sz="1500" dirty="0"/>
          </a:p>
        </p:txBody>
      </p:sp>
      <p:sp>
        <p:nvSpPr>
          <p:cNvPr id="9" name="future-title-133"/>
          <p:cNvSpPr txBox="1"/>
          <p:nvPr/>
        </p:nvSpPr>
        <p:spPr>
          <a:xfrm>
            <a:off x="548640" y="4041648"/>
            <a:ext cx="3337560" cy="365760"/>
          </a:xfrm>
          <a:prstGeom prst="rect">
            <a:avLst/>
          </a:prstGeom>
          <a:noFill/>
          <a:ln/>
        </p:spPr>
        <p:txBody>
          <a:bodyPr wrap="square" lIns="0" tIns="0" rIns="0" bIns="0" rtlCol="0" anchor="t"/>
          <a:lstStyle/>
          <a:p>
            <a:pPr indent="0" marL="0">
              <a:buNone/>
            </a:pPr>
            <a:r>
              <a:rPr lang="en-US" sz="1900" b="1" dirty="0">
                <a:solidFill>
                  <a:schemeClr val="tx1"/>
                </a:solidFill>
              </a:rPr>
              <a:t>Kiểm chứng mô phỏng</a:t>
            </a:r>
            <a:endParaRPr lang="en-US" sz="1900" dirty="0"/>
          </a:p>
        </p:txBody>
      </p:sp>
      <p:sp>
        <p:nvSpPr>
          <p:cNvPr id="10" name="future-body-134"/>
          <p:cNvSpPr txBox="1"/>
          <p:nvPr/>
        </p:nvSpPr>
        <p:spPr>
          <a:xfrm>
            <a:off x="548640" y="4480560"/>
            <a:ext cx="3337560" cy="1005840"/>
          </a:xfrm>
          <a:prstGeom prst="rect">
            <a:avLst/>
          </a:prstGeom>
          <a:noFill/>
          <a:ln/>
        </p:spPr>
        <p:txBody>
          <a:bodyPr wrap="square" lIns="0" tIns="0" rIns="0" bIns="0" rtlCol="0" anchor="t"/>
          <a:lstStyle/>
          <a:p>
            <a:pPr indent="0" marL="0">
              <a:buNone/>
            </a:pPr>
            <a:r>
              <a:rPr lang="en-US" sz="1600" dirty="0">
                <a:solidFill>
                  <a:schemeClr val="tx2"/>
                </a:solidFill>
              </a:rPr>
              <a:t>So sánh công bằng LQR cố định và LQR thích nghi trong các điều kiện lái và vận hành xác định</a:t>
            </a:r>
            <a:endParaRPr lang="en-US" sz="1600" dirty="0"/>
          </a:p>
        </p:txBody>
      </p:sp>
      <p:sp>
        <p:nvSpPr>
          <p:cNvPr id="11" name="future-node-135"/>
          <p:cNvSpPr/>
          <p:nvPr/>
        </p:nvSpPr>
        <p:spPr>
          <a:xfrm>
            <a:off x="4343400" y="3374136"/>
            <a:ext cx="164592" cy="164592"/>
          </a:xfrm>
          <a:prstGeom prst="ellipse">
            <a:avLst/>
          </a:prstGeom>
          <a:solidFill>
            <a:schemeClr val="accent1"/>
          </a:solidFill>
          <a:ln w="6350">
            <a:solidFill>
              <a:schemeClr val="accent1"/>
            </a:solidFill>
            <a:prstDash val="solid"/>
          </a:ln>
        </p:spPr>
      </p:sp>
      <p:sp>
        <p:nvSpPr>
          <p:cNvPr id="12" name="future-num-136"/>
          <p:cNvSpPr txBox="1"/>
          <p:nvPr/>
        </p:nvSpPr>
        <p:spPr>
          <a:xfrm>
            <a:off x="4343400" y="3703320"/>
            <a:ext cx="548640" cy="320040"/>
          </a:xfrm>
          <a:prstGeom prst="rect">
            <a:avLst/>
          </a:prstGeom>
          <a:noFill/>
          <a:ln/>
        </p:spPr>
        <p:txBody>
          <a:bodyPr wrap="square" lIns="0" tIns="0" rIns="0" bIns="0" rtlCol="0" anchor="t"/>
          <a:lstStyle/>
          <a:p>
            <a:pPr indent="0" marL="0">
              <a:buNone/>
            </a:pPr>
            <a:r>
              <a:rPr lang="en-US" sz="1500" b="1" dirty="0">
                <a:solidFill>
                  <a:schemeClr val="accent1"/>
                </a:solidFill>
              </a:rPr>
              <a:t>02</a:t>
            </a:r>
            <a:endParaRPr lang="en-US" sz="1500" dirty="0"/>
          </a:p>
        </p:txBody>
      </p:sp>
      <p:sp>
        <p:nvSpPr>
          <p:cNvPr id="13" name="future-title-137"/>
          <p:cNvSpPr txBox="1"/>
          <p:nvPr/>
        </p:nvSpPr>
        <p:spPr>
          <a:xfrm>
            <a:off x="4343400" y="4041648"/>
            <a:ext cx="3337560" cy="365760"/>
          </a:xfrm>
          <a:prstGeom prst="rect">
            <a:avLst/>
          </a:prstGeom>
          <a:noFill/>
          <a:ln/>
        </p:spPr>
        <p:txBody>
          <a:bodyPr wrap="square" lIns="0" tIns="0" rIns="0" bIns="0" rtlCol="0" anchor="t"/>
          <a:lstStyle/>
          <a:p>
            <a:pPr indent="0" marL="0">
              <a:buNone/>
            </a:pPr>
            <a:r>
              <a:rPr lang="en-US" sz="1900" b="1" dirty="0">
                <a:solidFill>
                  <a:schemeClr val="tx1"/>
                </a:solidFill>
              </a:rPr>
              <a:t>Kiểm chứng lão hóa pin</a:t>
            </a:r>
            <a:endParaRPr lang="en-US" sz="1900" dirty="0"/>
          </a:p>
        </p:txBody>
      </p:sp>
      <p:sp>
        <p:nvSpPr>
          <p:cNvPr id="14" name="future-body-138"/>
          <p:cNvSpPr txBox="1"/>
          <p:nvPr/>
        </p:nvSpPr>
        <p:spPr>
          <a:xfrm>
            <a:off x="4343400" y="4480560"/>
            <a:ext cx="3337560" cy="1005840"/>
          </a:xfrm>
          <a:prstGeom prst="rect">
            <a:avLst/>
          </a:prstGeom>
          <a:noFill/>
          <a:ln/>
        </p:spPr>
        <p:txBody>
          <a:bodyPr wrap="square" lIns="0" tIns="0" rIns="0" bIns="0" rtlCol="0" anchor="t"/>
          <a:lstStyle/>
          <a:p>
            <a:pPr indent="0" marL="0">
              <a:buNone/>
            </a:pPr>
            <a:r>
              <a:rPr lang="en-US" sz="1600" dirty="0">
                <a:solidFill>
                  <a:schemeClr val="tx2"/>
                </a:solidFill>
              </a:rPr>
              <a:t>Củng cố cơ sở mô hình lão hóa, tham số hóa và đánh giá suy giảm dung lượng theo chu kỳ</a:t>
            </a:r>
            <a:endParaRPr lang="en-US" sz="1600" dirty="0"/>
          </a:p>
        </p:txBody>
      </p:sp>
      <p:sp>
        <p:nvSpPr>
          <p:cNvPr id="15" name="future-node-139"/>
          <p:cNvSpPr/>
          <p:nvPr/>
        </p:nvSpPr>
        <p:spPr>
          <a:xfrm>
            <a:off x="8138160" y="3374136"/>
            <a:ext cx="164592" cy="164592"/>
          </a:xfrm>
          <a:prstGeom prst="ellipse">
            <a:avLst/>
          </a:prstGeom>
          <a:solidFill>
            <a:schemeClr val="accent1"/>
          </a:solidFill>
          <a:ln w="6350">
            <a:solidFill>
              <a:schemeClr val="accent1"/>
            </a:solidFill>
            <a:prstDash val="solid"/>
          </a:ln>
        </p:spPr>
      </p:sp>
      <p:sp>
        <p:nvSpPr>
          <p:cNvPr id="16" name="future-num-140"/>
          <p:cNvSpPr txBox="1"/>
          <p:nvPr/>
        </p:nvSpPr>
        <p:spPr>
          <a:xfrm>
            <a:off x="8138160" y="3703320"/>
            <a:ext cx="548640" cy="320040"/>
          </a:xfrm>
          <a:prstGeom prst="rect">
            <a:avLst/>
          </a:prstGeom>
          <a:noFill/>
          <a:ln/>
        </p:spPr>
        <p:txBody>
          <a:bodyPr wrap="square" lIns="0" tIns="0" rIns="0" bIns="0" rtlCol="0" anchor="t"/>
          <a:lstStyle/>
          <a:p>
            <a:pPr indent="0" marL="0">
              <a:buNone/>
            </a:pPr>
            <a:r>
              <a:rPr lang="en-US" sz="1500" b="1" dirty="0">
                <a:solidFill>
                  <a:schemeClr val="accent1"/>
                </a:solidFill>
              </a:rPr>
              <a:t>03</a:t>
            </a:r>
            <a:endParaRPr lang="en-US" sz="1500" dirty="0"/>
          </a:p>
        </p:txBody>
      </p:sp>
      <p:sp>
        <p:nvSpPr>
          <p:cNvPr id="17" name="future-title-141"/>
          <p:cNvSpPr txBox="1"/>
          <p:nvPr/>
        </p:nvSpPr>
        <p:spPr>
          <a:xfrm>
            <a:off x="8138160" y="4041648"/>
            <a:ext cx="3337560" cy="365760"/>
          </a:xfrm>
          <a:prstGeom prst="rect">
            <a:avLst/>
          </a:prstGeom>
          <a:noFill/>
          <a:ln/>
        </p:spPr>
        <p:txBody>
          <a:bodyPr wrap="square" lIns="0" tIns="0" rIns="0" bIns="0" rtlCol="0" anchor="t"/>
          <a:lstStyle/>
          <a:p>
            <a:pPr indent="0" marL="0">
              <a:buNone/>
            </a:pPr>
            <a:r>
              <a:rPr lang="en-US" sz="1900" b="1" dirty="0">
                <a:solidFill>
                  <a:schemeClr val="tx1"/>
                </a:solidFill>
              </a:rPr>
              <a:t>Mở rộng kỹ thuật</a:t>
            </a:r>
            <a:endParaRPr lang="en-US" sz="1900" dirty="0"/>
          </a:p>
        </p:txBody>
      </p:sp>
      <p:sp>
        <p:nvSpPr>
          <p:cNvPr id="18" name="future-body-142"/>
          <p:cNvSpPr txBox="1"/>
          <p:nvPr/>
        </p:nvSpPr>
        <p:spPr>
          <a:xfrm>
            <a:off x="8138160" y="4480560"/>
            <a:ext cx="3337560" cy="1005840"/>
          </a:xfrm>
          <a:prstGeom prst="rect">
            <a:avLst/>
          </a:prstGeom>
          <a:noFill/>
          <a:ln/>
        </p:spPr>
        <p:txBody>
          <a:bodyPr wrap="square" lIns="0" tIns="0" rIns="0" bIns="0" rtlCol="0" anchor="t"/>
          <a:lstStyle/>
          <a:p>
            <a:pPr indent="0" marL="0">
              <a:buNone/>
            </a:pPr>
            <a:r>
              <a:rPr lang="en-US" sz="1600" dirty="0">
                <a:solidFill>
                  <a:schemeClr val="tx2"/>
                </a:solidFill>
              </a:rPr>
              <a:t>Mở rộng phân tích đa mục tiêu, tiến tới HIL (phần cứng trong vòng lặp) hoặc thực nghiệm</a:t>
            </a:r>
            <a:endParaRPr lang="en-US" sz="1600" dirty="0"/>
          </a:p>
        </p:txBody>
      </p:sp>
      <p:sp>
        <p:nvSpPr>
          <p:cNvPr id="19" name="takeaway-divider-143"/>
          <p:cNvSpPr/>
          <p:nvPr/>
        </p:nvSpPr>
        <p:spPr>
          <a:xfrm>
            <a:off x="548640" y="5650992"/>
            <a:ext cx="11091672" cy="0"/>
          </a:xfrm>
          <a:prstGeom prst="line">
            <a:avLst/>
          </a:prstGeom>
          <a:noFill/>
          <a:ln w="12700">
            <a:solidFill>
              <a:schemeClr val="accent3"/>
            </a:solidFill>
            <a:prstDash val="solid"/>
          </a:ln>
        </p:spPr>
      </p:sp>
      <p:sp>
        <p:nvSpPr>
          <p:cNvPr id="20" name="takeaway-144"/>
          <p:cNvSpPr txBox="1"/>
          <p:nvPr/>
        </p:nvSpPr>
        <p:spPr>
          <a:xfrm>
            <a:off x="548640" y="5779008"/>
            <a:ext cx="11064240" cy="365760"/>
          </a:xfrm>
          <a:prstGeom prst="rect">
            <a:avLst/>
          </a:prstGeom>
          <a:noFill/>
          <a:ln/>
        </p:spPr>
        <p:txBody>
          <a:bodyPr wrap="square" lIns="0" tIns="0" rIns="0" bIns="0" rtlCol="0" anchor="t"/>
          <a:lstStyle/>
          <a:p>
            <a:pPr indent="0" marL="0">
              <a:buNone/>
            </a:pPr>
            <a:r>
              <a:rPr lang="en-US" sz="1700" dirty="0">
                <a:solidFill>
                  <a:schemeClr val="tx1"/>
                </a:solidFill>
              </a:rPr>
              <a:t>Giá trị của khung điều khiển được xác lập bằng so sánh công bằng, chỉ số tách biệt và dữ liệu có thể tái lập.</a:t>
            </a:r>
            <a:endParaRPr lang="en-US" sz="1700" dirty="0"/>
          </a:p>
        </p:txBody>
      </p:sp>
      <p:sp>
        <p:nvSpPr>
          <p:cNvPr id="25" name="Slide Number Placeholder 0"/>
          <p:cNvSpPr>
            <a:spLocks noGrp="1"/>
          </p:cNvSpPr>
          <p:nvPr>
            <p:ph type="sldNum" sz="quarter" idx="4294967295"/>
          </p:nvPr>
        </p:nvSpPr>
        <p:spPr>
          <a:xfrm>
            <a:off x="11091672"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EUREKA 2026 Engineering">
  <a:themeElements>
    <a:clrScheme name="EUREKA 2026 Engineering">
      <a:dk1>
        <a:srgbClr val="18324B"/>
      </a:dk1>
      <a:lt1>
        <a:srgbClr val="FFFFFF"/>
      </a:lt1>
      <a:dk2>
        <a:srgbClr val="667085"/>
      </a:dk2>
      <a:lt2>
        <a:srgbClr val="F4F6F8"/>
      </a:lt2>
      <a:accent1>
        <a:srgbClr val="477F7A"/>
      </a:accent1>
      <a:accent2>
        <a:srgbClr val="9A7549"/>
      </a:accent2>
      <a:accent3>
        <a:srgbClr val="E4E7EC"/>
      </a:accent3>
      <a:accent4>
        <a:srgbClr val="98A2B3"/>
      </a:accent4>
      <a:accent5>
        <a:srgbClr val="18324B"/>
      </a:accent5>
      <a:accent6>
        <a:srgbClr val="D0D5DD"/>
      </a:accent6>
      <a:hlink>
        <a:srgbClr val="477F7A"/>
      </a:hlink>
      <a:folHlink>
        <a:srgbClr val="667085"/>
      </a:folHlink>
    </a:clrScheme>
    <a:fontScheme name="EUREKA 2026 Engineering">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LQR thích nghi với bù suy giảm pin cho Micro-EV</dc:title>
  <dc:subject>EURÉKA 2026 — báo cáo bảo vệ 5 phút</dc:subject>
  <dc:creator>EURÉKA 2026</dc:creator>
  <cp:lastModifiedBy>EURÉKA 2026</cp:lastModifiedBy>
  <cp:revision>1</cp:revision>
  <dcterms:created xsi:type="dcterms:W3CDTF">2026-10-29T03:33:34Z</dcterms:created>
  <dcterms:modified xsi:type="dcterms:W3CDTF">2026-10-29T03:33:34Z</dcterms:modified>
</cp:coreProperties>
</file>